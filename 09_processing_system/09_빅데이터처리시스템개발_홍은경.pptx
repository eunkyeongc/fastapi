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2" r:id="rId4"/>
    <p:sldId id="265" r:id="rId5"/>
    <p:sldId id="266" r:id="rId6"/>
    <p:sldId id="267" r:id="rId7"/>
    <p:sldId id="268" r:id="rId8"/>
    <p:sldId id="269" r:id="rId9"/>
    <p:sldId id="270" r:id="rId10"/>
    <p:sldId id="27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.go.kr/data/15058305/openapi.do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07. 20.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Hong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빅데이터처리시스템개발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_이름.pptx(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config.py, database.py, batch_processor.py, event_processor.py, pipeline.py, README.md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verify-processing.py(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선택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있으면 가산점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320040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입력데이터 소개</a:t>
            </a:r>
            <a:r>
              <a:rPr lang="en-US" altLang="ko-KR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 :</a:t>
            </a:r>
            <a:endParaRPr lang="en-US" sz="3400" dirty="0"/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EC2E9CF5-0C69-4D08-AEB0-3A464F240D77}"/>
              </a:ext>
            </a:extLst>
          </p:cNvPr>
          <p:cNvSpPr/>
          <p:nvPr/>
        </p:nvSpPr>
        <p:spPr>
          <a:xfrm>
            <a:off x="320040" y="1513511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입력데이터명 </a:t>
            </a:r>
            <a:r>
              <a:rPr lang="en-US" altLang="ko-KR" dirty="0"/>
              <a:t>: </a:t>
            </a:r>
            <a:r>
              <a:rPr lang="en-US" altLang="ko-KR" dirty="0" err="1"/>
              <a:t>horse_race_raw</a:t>
            </a:r>
            <a:endParaRPr lang="ko-KR" altLang="en-US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776DB19E-39B1-4E42-9806-89E9FB7FF116}"/>
              </a:ext>
            </a:extLst>
          </p:cNvPr>
          <p:cNvSpPr/>
          <p:nvPr/>
        </p:nvSpPr>
        <p:spPr>
          <a:xfrm>
            <a:off x="320040" y="2240527"/>
            <a:ext cx="11274552" cy="154240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입력데이터 설명 </a:t>
            </a:r>
            <a:r>
              <a:rPr lang="en-US" altLang="ko-KR" dirty="0"/>
              <a:t>:</a:t>
            </a:r>
          </a:p>
          <a:p>
            <a:pPr lvl="1">
              <a:lnSpc>
                <a:spcPct val="150000"/>
              </a:lnSpc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horse_race_raw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테이블은 한국마사회 경주 기록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정보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https://www.data.go.kr/data/15058305/openapi.do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에서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openAPI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통해 받은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>
              <a:lnSpc>
                <a:spcPct val="150000"/>
              </a:lnSpc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CSV 원본 데이터를 </a:t>
            </a:r>
            <a:r>
              <a:rPr lang="ko-KR" altLang="en-US" sz="1400" dirty="0" err="1"/>
              <a:t>전처리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하여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저장한 테이블.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CSV 파일을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PostgreSQL에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적재하여 생성하였으며, 배치 처리와 이벤트 처리의 입력 데이터로 사용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4F80E50-C9A1-49E9-8EDA-FD8A8033A162}"/>
              </a:ext>
            </a:extLst>
          </p:cNvPr>
          <p:cNvSpPr/>
          <p:nvPr/>
        </p:nvSpPr>
        <p:spPr>
          <a:xfrm>
            <a:off x="320040" y="4051746"/>
            <a:ext cx="11274552" cy="93970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주요 컬럼 </a:t>
            </a:r>
            <a:r>
              <a:rPr lang="en-US" altLang="ko-KR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 err="1"/>
              <a:t>hrNo</a:t>
            </a:r>
            <a:r>
              <a:rPr lang="en-US" altLang="ko-KR" sz="1400" dirty="0"/>
              <a:t> : </a:t>
            </a:r>
            <a:r>
              <a:rPr lang="ko-KR" altLang="en-US" sz="1400" dirty="0" err="1"/>
              <a:t>말번호</a:t>
            </a:r>
            <a:r>
              <a:rPr lang="en-US" altLang="ko-KR" sz="1400" dirty="0"/>
              <a:t>,  </a:t>
            </a:r>
            <a:r>
              <a:rPr lang="en-US" altLang="ko-KR" sz="1400" dirty="0" err="1"/>
              <a:t>jkNameEn</a:t>
            </a:r>
            <a:r>
              <a:rPr lang="en-US" altLang="ko-KR" sz="1400" dirty="0"/>
              <a:t>: </a:t>
            </a:r>
            <a:r>
              <a:rPr lang="ko-KR" altLang="en-US" sz="1400" dirty="0"/>
              <a:t>말 영문이름</a:t>
            </a:r>
            <a:r>
              <a:rPr lang="en-US" altLang="ko-KR" sz="1400" dirty="0"/>
              <a:t>, buG1fAccTime: </a:t>
            </a:r>
            <a:r>
              <a:rPr lang="ko-KR" altLang="ko-KR" sz="14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부경</a:t>
            </a:r>
            <a:r>
              <a:rPr lang="en-US" altLang="ko-KR" sz="14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G1F</a:t>
            </a:r>
            <a:r>
              <a:rPr lang="ko-KR" altLang="ko-KR" sz="14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통과누적기록</a:t>
            </a:r>
            <a:r>
              <a:rPr lang="en-US" altLang="ko-KR" sz="14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, </a:t>
            </a:r>
            <a:r>
              <a:rPr lang="en-US" altLang="ko-KR" sz="1400" dirty="0"/>
              <a:t>buG1fOrd:</a:t>
            </a:r>
            <a:r>
              <a:rPr lang="ko-KR" altLang="ko-KR" sz="14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 부경</a:t>
            </a:r>
            <a:r>
              <a:rPr lang="en-US" altLang="ko-KR" sz="14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G1F</a:t>
            </a:r>
            <a:r>
              <a:rPr lang="ko-KR" altLang="ko-KR" sz="14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통과순위</a:t>
            </a:r>
            <a:r>
              <a:rPr lang="en-US" altLang="ko-KR" sz="14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…….</a:t>
            </a:r>
            <a:endParaRPr lang="ko-KR" altLang="en-US" sz="14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320040" y="5192648"/>
            <a:ext cx="11274552" cy="93970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4. </a:t>
            </a:r>
            <a:r>
              <a:rPr lang="ko-KR" altLang="en-US" dirty="0"/>
              <a:t>전체 건수 </a:t>
            </a:r>
            <a:r>
              <a:rPr lang="en-US" altLang="ko-KR" dirty="0"/>
              <a:t>: 1178</a:t>
            </a:r>
            <a:r>
              <a:rPr lang="ko-KR" altLang="en-US" dirty="0"/>
              <a:t>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320040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ctr"/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배치 처리 설계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320040" y="1811884"/>
            <a:ext cx="11274552" cy="390940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BE6ABF-E640-4831-AAEE-EDBF42139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795" y="1933444"/>
            <a:ext cx="4457700" cy="3590925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0B5F6D87-48AB-4836-9EBD-356A9FC03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69874"/>
              </p:ext>
            </p:extLst>
          </p:nvPr>
        </p:nvGraphicFramePr>
        <p:xfrm>
          <a:off x="460248" y="3098169"/>
          <a:ext cx="6377407" cy="1919646"/>
        </p:xfrm>
        <a:graphic>
          <a:graphicData uri="http://schemas.openxmlformats.org/drawingml/2006/table">
            <a:tbl>
              <a:tblPr/>
              <a:tblGrid>
                <a:gridCol w="1048119">
                  <a:extLst>
                    <a:ext uri="{9D8B030D-6E8A-4147-A177-3AD203B41FA5}">
                      <a16:colId xmlns:a16="http://schemas.microsoft.com/office/drawing/2014/main" val="3706853043"/>
                    </a:ext>
                  </a:extLst>
                </a:gridCol>
                <a:gridCol w="1545854">
                  <a:extLst>
                    <a:ext uri="{9D8B030D-6E8A-4147-A177-3AD203B41FA5}">
                      <a16:colId xmlns:a16="http://schemas.microsoft.com/office/drawing/2014/main" val="2172314708"/>
                    </a:ext>
                  </a:extLst>
                </a:gridCol>
                <a:gridCol w="1283515">
                  <a:extLst>
                    <a:ext uri="{9D8B030D-6E8A-4147-A177-3AD203B41FA5}">
                      <a16:colId xmlns:a16="http://schemas.microsoft.com/office/drawing/2014/main" val="4240785672"/>
                    </a:ext>
                  </a:extLst>
                </a:gridCol>
                <a:gridCol w="2499919">
                  <a:extLst>
                    <a:ext uri="{9D8B030D-6E8A-4147-A177-3AD203B41FA5}">
                      <a16:colId xmlns:a16="http://schemas.microsoft.com/office/drawing/2014/main" val="2126797592"/>
                    </a:ext>
                  </a:extLst>
                </a:gridCol>
              </a:tblGrid>
              <a:tr h="189671">
                <a:tc>
                  <a:txBody>
                    <a:bodyPr/>
                    <a:lstStyle/>
                    <a:p>
                      <a:r>
                        <a:rPr lang="ko-KR" altLang="en-US" sz="1000" b="1" dirty="0">
                          <a:effectLst/>
                          <a:latin typeface="Google Sans Text"/>
                        </a:rPr>
                        <a:t>구분</a:t>
                      </a:r>
                      <a:endParaRPr lang="ko-KR" altLang="en-US" sz="10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>
                          <a:effectLst/>
                          <a:latin typeface="Google Sans Text"/>
                        </a:rPr>
                        <a:t>대상 컬럼</a:t>
                      </a:r>
                      <a:endParaRPr lang="ko-KR" altLang="en-US" sz="10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>
                          <a:effectLst/>
                          <a:latin typeface="Google Sans Text"/>
                        </a:rPr>
                        <a:t>사용된 집계 함수</a:t>
                      </a:r>
                      <a:endParaRPr lang="ko-KR" altLang="en-US" sz="10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>
                          <a:effectLst/>
                          <a:latin typeface="Google Sans Text"/>
                        </a:rPr>
                        <a:t>설명 및 분석 목적</a:t>
                      </a:r>
                      <a:endParaRPr lang="ko-KR" altLang="en-US" sz="10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767367"/>
                  </a:ext>
                </a:extLst>
              </a:tr>
              <a:tr h="371988">
                <a:tc>
                  <a:txBody>
                    <a:bodyPr/>
                    <a:lstStyle/>
                    <a:p>
                      <a:r>
                        <a:rPr lang="ko-KR" altLang="en-US" sz="1000" b="1">
                          <a:effectLst/>
                          <a:latin typeface="Google Sans Text"/>
                        </a:rPr>
                        <a:t>출전 횟수</a:t>
                      </a:r>
                      <a:endParaRPr lang="ko-KR" altLang="en-US" sz="10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  <a:latin typeface="Google Sans Text"/>
                        </a:rPr>
                        <a:t>모든 컬럼 </a:t>
                      </a:r>
                      <a:r>
                        <a:rPr lang="en-US" altLang="ko-KR" sz="1000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00" dirty="0">
                          <a:effectLst/>
                          <a:latin typeface="Google Sans Text"/>
                        </a:rPr>
                        <a:t>COUNT(*))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  <a:latin typeface="Google Sans Text"/>
                        </a:rPr>
                        <a:t>COUNT(*)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  <a:latin typeface="Google Sans Text"/>
                        </a:rPr>
                        <a:t>해당 말이 경주에 출전한 총 횟수를 산출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528797"/>
                  </a:ext>
                </a:extLst>
              </a:tr>
              <a:tr h="284507">
                <a:tc>
                  <a:txBody>
                    <a:bodyPr/>
                    <a:lstStyle/>
                    <a:p>
                      <a:r>
                        <a:rPr lang="ko-KR" altLang="en-US" sz="1000" b="1">
                          <a:effectLst/>
                          <a:latin typeface="Google Sans Text"/>
                        </a:rPr>
                        <a:t>평균 순위</a:t>
                      </a:r>
                      <a:endParaRPr lang="ko-KR" altLang="en-US" sz="10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  <a:latin typeface="Google Sans Text"/>
                        </a:rPr>
                        <a:t>"buG1fOrd"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  <a:latin typeface="Google Sans Text"/>
                        </a:rPr>
                        <a:t>AVG()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  <a:latin typeface="Google Sans Text"/>
                        </a:rPr>
                        <a:t>최종 도착 순위의 평균 </a:t>
                      </a:r>
                      <a:r>
                        <a:rPr lang="en-US" altLang="ko-KR" sz="10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00">
                          <a:effectLst/>
                          <a:latin typeface="Google Sans Text"/>
                        </a:rPr>
                        <a:t>성적 분석</a:t>
                      </a:r>
                      <a:r>
                        <a:rPr lang="en-US" altLang="ko-KR" sz="10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411023"/>
                  </a:ext>
                </a:extLst>
              </a:tr>
              <a:tr h="469029">
                <a:tc>
                  <a:txBody>
                    <a:bodyPr/>
                    <a:lstStyle/>
                    <a:p>
                      <a:r>
                        <a:rPr lang="ko-KR" altLang="en-US" sz="1000" b="1">
                          <a:effectLst/>
                          <a:latin typeface="Google Sans Text"/>
                        </a:rPr>
                        <a:t>최고 순위</a:t>
                      </a:r>
                      <a:endParaRPr lang="ko-KR" altLang="en-US" sz="10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  <a:latin typeface="Google Sans Text"/>
                        </a:rPr>
                        <a:t>"buG1fOrd"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  <a:latin typeface="Google Sans Text"/>
                        </a:rPr>
                        <a:t>MIN()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  <a:latin typeface="Google Sans Text"/>
                        </a:rPr>
                        <a:t>말의 최고 성적</a:t>
                      </a:r>
                      <a:r>
                        <a:rPr lang="en-US" altLang="ko-KR" sz="1000"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000">
                          <a:effectLst/>
                          <a:latin typeface="Google Sans Text"/>
                        </a:rPr>
                        <a:t>순위 </a:t>
                      </a:r>
                      <a:r>
                        <a:rPr lang="en-US" altLang="ko-KR" sz="1000">
                          <a:effectLst/>
                          <a:latin typeface="Google Sans Text"/>
                        </a:rPr>
                        <a:t>(1</a:t>
                      </a:r>
                      <a:r>
                        <a:rPr lang="ko-KR" altLang="en-US" sz="1000">
                          <a:effectLst/>
                          <a:latin typeface="Google Sans Text"/>
                        </a:rPr>
                        <a:t>위에 얼마나 가까웠는지</a:t>
                      </a:r>
                      <a:r>
                        <a:rPr lang="en-US" altLang="ko-KR" sz="10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861701"/>
                  </a:ext>
                </a:extLst>
              </a:tr>
              <a:tr h="469029">
                <a:tc>
                  <a:txBody>
                    <a:bodyPr/>
                    <a:lstStyle/>
                    <a:p>
                      <a:r>
                        <a:rPr lang="ko-KR" altLang="en-US" sz="1000" b="1" dirty="0">
                          <a:effectLst/>
                          <a:latin typeface="Google Sans Text"/>
                        </a:rPr>
                        <a:t>평균주행기록</a:t>
                      </a:r>
                      <a:endParaRPr lang="ko-KR" altLang="en-US" sz="10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  <a:latin typeface="Google Sans Text"/>
                        </a:rPr>
                        <a:t>"buG1fAccTime"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  <a:latin typeface="Google Sans Text"/>
                        </a:rPr>
                        <a:t>AVG()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  <a:latin typeface="Google Sans Text"/>
                        </a:rPr>
                        <a:t>G1F(</a:t>
                      </a:r>
                      <a:r>
                        <a:rPr lang="ko-KR" altLang="en-US" sz="1000" dirty="0">
                          <a:effectLst/>
                          <a:latin typeface="Google Sans Text"/>
                        </a:rPr>
                        <a:t>결승선 직전</a:t>
                      </a:r>
                      <a:r>
                        <a:rPr lang="en-US" altLang="ko-KR" sz="1000" dirty="0"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000" dirty="0">
                          <a:effectLst/>
                          <a:latin typeface="Google Sans Text"/>
                        </a:rPr>
                        <a:t>누적 통과 시간의 평균 </a:t>
                      </a:r>
                      <a:r>
                        <a:rPr lang="en-US" altLang="ko-KR" sz="1000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00" dirty="0">
                          <a:effectLst/>
                          <a:latin typeface="Google Sans Text"/>
                        </a:rPr>
                        <a:t>속도</a:t>
                      </a:r>
                      <a:r>
                        <a:rPr lang="en-US" altLang="ko-KR" sz="1000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000" dirty="0">
                          <a:effectLst/>
                          <a:latin typeface="Google Sans Text"/>
                        </a:rPr>
                        <a:t>기록 분석</a:t>
                      </a:r>
                      <a:r>
                        <a:rPr lang="en-US" altLang="ko-KR" sz="1000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288058"/>
                  </a:ext>
                </a:extLst>
              </a:tr>
            </a:tbl>
          </a:graphicData>
        </a:graphic>
      </p:graphicFrame>
      <p:sp>
        <p:nvSpPr>
          <p:cNvPr id="15" name="Rectangle 1">
            <a:extLst>
              <a:ext uri="{FF2B5EF4-FFF2-40B4-BE49-F238E27FC236}">
                <a16:creationId xmlns:a16="http://schemas.microsoft.com/office/drawing/2014/main" id="{506A4967-5616-4B77-9E7E-08C5B0C13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48" y="1810845"/>
            <a:ext cx="5997155" cy="1073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개별 말(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Horse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 단위로 실적과 기록을 집계하기 위해 그룹화 기준으로 사용했습니다.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>
                <a:latin typeface="Arial" panose="020B0604020202020204" pitchFamily="34" charset="0"/>
                <a:ea typeface="Google Sans"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주요 집계 대상 컬럼 (AGGREGATION)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각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말별로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통계 수치를 내기 위해 다음 컬럼들을 집계했습니다.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81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320040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ctr"/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이벤트 처리 설계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320040" y="1811884"/>
            <a:ext cx="11274552" cy="455536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B4DA07-4F06-4A17-B3D9-DA78F3F15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79" y="2268543"/>
            <a:ext cx="6419115" cy="3105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필터링 조건 (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"buG1fOrd" &gt; 0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원본 데이터 중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실격·기권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등의 사유로 순위가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으로 기록된 행들이 포함되어 있습니다.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을 포함하여 평균을 내면 잘못된 정렬 결과가 발생하므로,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경주를 완수한 정상 데이터(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 0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)만 필터링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하여 계산했습니다.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기준값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설정 (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avg_rank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ASC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LIMIT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오름차순 정렬 (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ASC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순위는 숫자가 작을수록(1위, 2위...) 우수한 성적이므로, 평균 순위가 가장 높은(낮은 수치) 말들을 우선 배치했습니다.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상위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0위 지정 (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LIMIT 20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전체 1,178건의 기록 중 연속 1위를 기록한 말들(평균 1.0위)을 포함하여, 우수한 성적을 거둔 상위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0마리의 말을 '우수 이벤트' 대상군으로 선정했습니다.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6CD7C0-8983-498E-8A54-48455FDB9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679" y="1962936"/>
            <a:ext cx="41052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1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320040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ctr"/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배치 처리 코드와 실행 결과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320040" y="1493240"/>
            <a:ext cx="11274552" cy="489078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FA0DF5-F726-422E-8A69-201445913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65" y="1558865"/>
            <a:ext cx="4121209" cy="47595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AEC05A-63F1-400D-8CD8-F002991A2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601" y="1558865"/>
            <a:ext cx="52768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9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320040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ctr"/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이벤트 처리 코드와 실행 결과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320040" y="1518407"/>
            <a:ext cx="11274552" cy="4882393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B1F5E0-FE28-482A-8AF6-6C835440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0" y="1593908"/>
            <a:ext cx="3546286" cy="47146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6BBD5EC-5F77-41FF-BF0C-1AF338DD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206" y="1593908"/>
            <a:ext cx="52768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0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320040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ctr"/>
            <a:r>
              <a:rPr lang="en-US" altLang="ko-KR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PostgreSQL </a:t>
            </a:r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결과 테이블 캡처 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320040" y="1459684"/>
            <a:ext cx="11274552" cy="4924338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           &lt;</a:t>
            </a:r>
            <a:r>
              <a:rPr lang="ko-KR" altLang="en-US" dirty="0"/>
              <a:t> </a:t>
            </a:r>
            <a:r>
              <a:rPr lang="en-US" altLang="ko-KR" dirty="0" err="1"/>
              <a:t>horse_race_summary</a:t>
            </a:r>
            <a:r>
              <a:rPr lang="en-US" altLang="ko-KR" dirty="0"/>
              <a:t>  Table&gt;				&lt; </a:t>
            </a:r>
            <a:r>
              <a:rPr lang="en-US" altLang="ko-KR" dirty="0" err="1"/>
              <a:t>horse_race_event</a:t>
            </a:r>
            <a:r>
              <a:rPr lang="en-US" altLang="ko-KR" dirty="0"/>
              <a:t> Table &gt;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6C0831-729C-423B-B86C-6567FDBF5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57" y="2031407"/>
            <a:ext cx="5616899" cy="38935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4AE59D-61ED-47B4-A6AF-C5CB2A448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" y="2031407"/>
            <a:ext cx="3610698" cy="420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6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412533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ctr"/>
            <a:r>
              <a:rPr lang="en-US" altLang="ko-KR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README </a:t>
            </a:r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요약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320040" y="1392572"/>
            <a:ext cx="11274552" cy="501661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DA9EE9-42B5-433B-B070-8BE2D210C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751" y="1391625"/>
            <a:ext cx="4006322" cy="501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78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412533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ctr"/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sz="34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느낀점</a:t>
            </a:r>
            <a:r>
              <a:rPr lang="en-US" altLang="ko-KR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오류해결과정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412533" y="1627326"/>
            <a:ext cx="11274552" cy="47361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sz="1600" b="0" i="0" dirty="0">
                <a:effectLst/>
                <a:latin typeface="+mj-ea"/>
                <a:ea typeface="+mj-ea"/>
              </a:rPr>
              <a:t> 첫번째 오류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: </a:t>
            </a:r>
            <a:r>
              <a:rPr lang="en-US" altLang="ko-KR" sz="1600" b="0" i="0" dirty="0" err="1">
                <a:effectLst/>
                <a:latin typeface="+mj-ea"/>
                <a:ea typeface="+mj-ea"/>
              </a:rPr>
              <a:t>avg_rank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가 모두 </a:t>
            </a:r>
            <a:r>
              <a:rPr lang="en-US" altLang="ko-KR" sz="1600" dirty="0">
                <a:latin typeface="+mj-ea"/>
                <a:ea typeface="+mj-ea"/>
              </a:rPr>
              <a:t>‘0’</a:t>
            </a:r>
            <a:r>
              <a:rPr lang="ko-KR" altLang="en-US" sz="1600" dirty="0">
                <a:latin typeface="+mj-ea"/>
                <a:ea typeface="+mj-ea"/>
              </a:rPr>
              <a:t>으로 나옴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200" dirty="0">
                <a:latin typeface="+mj-ea"/>
                <a:ea typeface="+mj-ea"/>
                <a:sym typeface="Wingdings" panose="05000000000000000000" pitchFamily="2" charset="2"/>
              </a:rPr>
              <a:t>-&gt;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buG1fOrd &gt; 0 조건 추가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: 순위가 0인 데이터(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미완주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/실격 등)를 조건에서 제외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함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200" dirty="0">
                <a:latin typeface="+mj-ea"/>
                <a:ea typeface="+mj-ea"/>
              </a:rPr>
              <a:t>-&gt;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buG1fOrd 평균 계산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: 정상적인 순위 데이터(1등, 2등 등)의 평균만 계산하여 오름차순으로 상위 10위를 추출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함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200" dirty="0">
                <a:latin typeface="+mj-ea"/>
                <a:ea typeface="+mj-ea"/>
              </a:rPr>
              <a:t>-&gt;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en-US" altLang="ko-KR" sz="1400" dirty="0"/>
              <a:t>WHERE "buG1fOrd" &gt; 0</a:t>
            </a:r>
            <a:endParaRPr lang="en-US" altLang="ko-KR" sz="1400" dirty="0"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sz="1600" b="0" i="0" dirty="0">
                <a:effectLst/>
                <a:latin typeface="+mj-ea"/>
                <a:ea typeface="+mj-ea"/>
              </a:rPr>
              <a:t> 두번째 오류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: </a:t>
            </a:r>
            <a:r>
              <a:rPr lang="en-US" altLang="ko-KR" sz="1600" b="0" i="0" dirty="0" err="1">
                <a:effectLst/>
                <a:latin typeface="+mj-ea"/>
                <a:ea typeface="+mj-ea"/>
              </a:rPr>
              <a:t>avg_rank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가 모두 </a:t>
            </a:r>
            <a:r>
              <a:rPr lang="en-US" altLang="ko-KR" sz="1600" dirty="0">
                <a:latin typeface="+mj-ea"/>
                <a:ea typeface="+mj-ea"/>
              </a:rPr>
              <a:t>‘1’</a:t>
            </a:r>
            <a:r>
              <a:rPr lang="ko-KR" altLang="en-US" sz="1600" dirty="0">
                <a:latin typeface="+mj-ea"/>
                <a:ea typeface="+mj-ea"/>
              </a:rPr>
              <a:t>으로 나옴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latin typeface="+mj-ea"/>
                <a:ea typeface="+mj-ea"/>
                <a:sym typeface="Wingdings" panose="05000000000000000000" pitchFamily="2" charset="2"/>
              </a:rPr>
              <a:t>-&gt;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출전 횟수가 적은 말(1~2회)을 제외하고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최소 3회 이상 출전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하면서 성적이 좋은 말을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보기위해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HAVING COUNT(*) &gt;= 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조건을 추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가함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sz="1600" b="0" i="0" dirty="0">
                <a:effectLst/>
                <a:latin typeface="+mj-ea"/>
                <a:ea typeface="+mj-ea"/>
              </a:rPr>
              <a:t> </a:t>
            </a:r>
            <a:r>
              <a:rPr lang="ko-KR" altLang="en-US" sz="1600" b="0" i="0" dirty="0" err="1">
                <a:effectLst/>
                <a:latin typeface="+mj-ea"/>
                <a:ea typeface="+mj-ea"/>
              </a:rPr>
              <a:t>느낀점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 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400" dirty="0">
                <a:latin typeface="+mj-ea"/>
                <a:ea typeface="+mj-ea"/>
              </a:rPr>
              <a:t>-&gt; </a:t>
            </a:r>
            <a:r>
              <a:rPr lang="ko-KR" altLang="en-US" sz="1400" dirty="0">
                <a:latin typeface="+mj-ea"/>
                <a:ea typeface="+mj-ea"/>
              </a:rPr>
              <a:t>기존에 사용하던 데이터는 데이터의 양과 질적인 면에서 과제를 계속 실행하기 어렵다는 판단을 하여 자료수집부터 다시 시작하였음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400" dirty="0">
                <a:latin typeface="+mj-ea"/>
                <a:ea typeface="+mj-ea"/>
              </a:rPr>
              <a:t>-&gt;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r>
              <a:rPr lang="en-US" altLang="ko-KR" sz="1400" dirty="0">
                <a:latin typeface="+mj-ea"/>
                <a:ea typeface="+mj-ea"/>
              </a:rPr>
              <a:t>Pipeline</a:t>
            </a:r>
            <a:r>
              <a:rPr lang="ko-KR" altLang="en-US" sz="1400" dirty="0">
                <a:latin typeface="+mj-ea"/>
                <a:ea typeface="+mj-ea"/>
              </a:rPr>
              <a:t>으로 데이터를 수집하려고 했으나 시행과정에서 어려움이 발생하여 </a:t>
            </a:r>
            <a:r>
              <a:rPr lang="en-US" altLang="ko-KR" sz="1400" dirty="0" err="1">
                <a:latin typeface="+mj-ea"/>
                <a:ea typeface="+mj-ea"/>
              </a:rPr>
              <a:t>pgAdmin</a:t>
            </a:r>
            <a:r>
              <a:rPr lang="ko-KR" altLang="en-US" sz="1400" dirty="0">
                <a:latin typeface="+mj-ea"/>
                <a:ea typeface="+mj-ea"/>
              </a:rPr>
              <a:t>에서 직접 </a:t>
            </a:r>
            <a:r>
              <a:rPr lang="en-US" altLang="ko-KR" sz="1400" dirty="0">
                <a:latin typeface="+mj-ea"/>
                <a:ea typeface="+mj-ea"/>
              </a:rPr>
              <a:t>column</a:t>
            </a:r>
            <a:r>
              <a:rPr lang="ko-KR" altLang="en-US" sz="1400" dirty="0">
                <a:latin typeface="+mj-ea"/>
                <a:ea typeface="+mj-ea"/>
              </a:rPr>
              <a:t>을 </a:t>
            </a:r>
            <a:r>
              <a:rPr lang="ko-KR" altLang="en-US" sz="1400" dirty="0" err="1">
                <a:latin typeface="+mj-ea"/>
                <a:ea typeface="+mj-ea"/>
              </a:rPr>
              <a:t>생성후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r>
              <a:rPr lang="en-US" altLang="ko-KR" sz="1400" dirty="0">
                <a:latin typeface="+mj-ea"/>
                <a:ea typeface="+mj-ea"/>
              </a:rPr>
              <a:t>import</a:t>
            </a:r>
            <a:r>
              <a:rPr lang="ko-KR" altLang="en-US" sz="1400" dirty="0">
                <a:latin typeface="+mj-ea"/>
                <a:ea typeface="+mj-ea"/>
              </a:rPr>
              <a:t> 기능을 이용하여 </a:t>
            </a:r>
            <a:r>
              <a:rPr lang="en-US" altLang="ko-KR" sz="1400" dirty="0">
                <a:latin typeface="+mj-ea"/>
                <a:ea typeface="+mj-ea"/>
              </a:rPr>
              <a:t>csv</a:t>
            </a:r>
            <a:r>
              <a:rPr lang="ko-KR" altLang="en-US" sz="1400" dirty="0">
                <a:latin typeface="+mj-ea"/>
                <a:ea typeface="+mj-ea"/>
              </a:rPr>
              <a:t>파일을 읽어드려 </a:t>
            </a:r>
            <a:r>
              <a:rPr lang="en-US" altLang="ko-KR" sz="1400" dirty="0" err="1">
                <a:latin typeface="+mj-ea"/>
                <a:ea typeface="+mj-ea"/>
              </a:rPr>
              <a:t>horse_race_raw</a:t>
            </a:r>
            <a:r>
              <a:rPr lang="ko-KR" altLang="en-US" sz="1400" dirty="0">
                <a:latin typeface="+mj-ea"/>
                <a:ea typeface="+mj-ea"/>
              </a:rPr>
              <a:t> 테이블을 생성함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-&gt;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대부분의 과정을 수업시간에 배운 내용을 바탕으로 따라하면서 조금씩 수정을 해 나감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400" dirty="0">
                <a:latin typeface="+mj-ea"/>
                <a:ea typeface="+mj-ea"/>
              </a:rPr>
              <a:t>-&gt; </a:t>
            </a:r>
            <a:r>
              <a:rPr lang="ko-KR" altLang="en-US" sz="1400" dirty="0">
                <a:latin typeface="+mj-ea"/>
                <a:ea typeface="+mj-ea"/>
              </a:rPr>
              <a:t>코드를 작성하는 것도 힘들었지만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배치 처리와 이벤트 처리의 주제를 무엇으로 잡을 지 기준을 정하는 과정이 더 어렵고 힘들었으며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가장 많은 시간을 할애함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6365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78D4B2-66E7-4699-88FA-EAEAB4B40D33}"/>
              </a:ext>
            </a:extLst>
          </p:cNvPr>
          <p:cNvSpPr/>
          <p:nvPr/>
        </p:nvSpPr>
        <p:spPr>
          <a:xfrm>
            <a:off x="412533" y="356463"/>
            <a:ext cx="11411712" cy="957531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883B545-C823-42CF-9F3B-36A848CCEEE8}"/>
              </a:ext>
            </a:extLst>
          </p:cNvPr>
          <p:cNvSpPr/>
          <p:nvPr/>
        </p:nvSpPr>
        <p:spPr>
          <a:xfrm>
            <a:off x="460248" y="356463"/>
            <a:ext cx="11316282" cy="895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ctr"/>
            <a:r>
              <a:rPr lang="en-US" altLang="ko-KR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Verify_processing.py</a:t>
            </a:r>
            <a:endParaRPr lang="ko-KR" altLang="en-US" sz="3400" b="1" dirty="0">
              <a:solidFill>
                <a:srgbClr val="FFFFFF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A6A1650-774C-4F3E-A53A-608A3628EF85}"/>
              </a:ext>
            </a:extLst>
          </p:cNvPr>
          <p:cNvSpPr/>
          <p:nvPr/>
        </p:nvSpPr>
        <p:spPr>
          <a:xfrm>
            <a:off x="320040" y="1392572"/>
            <a:ext cx="11274552" cy="501661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	&lt; code&gt;						&lt; </a:t>
            </a:r>
            <a:r>
              <a:rPr lang="ko-KR" altLang="en-US" dirty="0"/>
              <a:t>실행 결과 </a:t>
            </a:r>
            <a:r>
              <a:rPr lang="en-US" altLang="ko-KR" dirty="0"/>
              <a:t>&gt;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792B43-9852-4705-B3DD-C444A3C7C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9580"/>
            <a:ext cx="5372100" cy="10382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CD61D5-A47A-43CD-8F5F-F7292ADD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93" y="1949580"/>
            <a:ext cx="4434179" cy="426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5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750</Words>
  <Application>Microsoft Office PowerPoint</Application>
  <PresentationFormat>와이드스크린</PresentationFormat>
  <Paragraphs>74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Arial Unicode MS</vt:lpstr>
      <vt:lpstr>Google Sans Text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30</cp:revision>
  <dcterms:created xsi:type="dcterms:W3CDTF">2026-03-10T17:23:29Z</dcterms:created>
  <dcterms:modified xsi:type="dcterms:W3CDTF">2026-07-20T05:54:05Z</dcterms:modified>
</cp:coreProperties>
</file>