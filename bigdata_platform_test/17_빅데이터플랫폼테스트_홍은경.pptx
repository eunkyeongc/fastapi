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9" r:id="rId3"/>
    <p:sldId id="263" r:id="rId4"/>
    <p:sldId id="264" r:id="rId5"/>
    <p:sldId id="265" r:id="rId6"/>
    <p:sldId id="266" r:id="rId7"/>
    <p:sldId id="267" r:id="rId8"/>
    <p:sldId id="260" r:id="rId9"/>
    <p:sldId id="272" r:id="rId10"/>
    <p:sldId id="276" r:id="rId11"/>
    <p:sldId id="279" r:id="rId12"/>
    <p:sldId id="280" r:id="rId13"/>
    <p:sldId id="278" r:id="rId14"/>
    <p:sldId id="269" r:id="rId15"/>
    <p:sldId id="277" r:id="rId16"/>
    <p:sldId id="270" r:id="rId17"/>
    <p:sldId id="274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테스트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홍은경</a:t>
            </a:r>
            <a:r>
              <a:rPr lang="en-US" altLang="ko-KR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	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2026. 09. 11.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Hong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EunKyeong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4876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>
              <a:lnSpc>
                <a:spcPct val="140000"/>
              </a:lnSpc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17_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빅데이터플랫폼테스트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성함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.pptx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포함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zip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파일</a:t>
            </a: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 플랫폼 테스트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altLang="ko-KR" sz="1100" dirty="0"/>
                <a:t>2001020908_24v3</a:t>
              </a:r>
              <a:endPara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0F48361B-2233-4DC2-8755-3F80368AF670}"/>
              </a:ext>
            </a:extLst>
          </p:cNvPr>
          <p:cNvGrpSpPr/>
          <p:nvPr/>
        </p:nvGrpSpPr>
        <p:grpSpPr>
          <a:xfrm>
            <a:off x="375681" y="2810304"/>
            <a:ext cx="11440637" cy="1237391"/>
            <a:chOff x="320040" y="502920"/>
            <a:chExt cx="8412480" cy="1188720"/>
          </a:xfrm>
        </p:grpSpPr>
        <p:sp>
          <p:nvSpPr>
            <p:cNvPr id="3" name="Shape 0">
              <a:extLst>
                <a:ext uri="{FF2B5EF4-FFF2-40B4-BE49-F238E27FC236}">
                  <a16:creationId xmlns:a16="http://schemas.microsoft.com/office/drawing/2014/main" id="{D8BBB767-9358-4779-A5CD-D4A183F5ADE4}"/>
                </a:ext>
              </a:extLst>
            </p:cNvPr>
            <p:cNvSpPr/>
            <p:nvPr/>
          </p:nvSpPr>
          <p:spPr>
            <a:xfrm>
              <a:off x="320040" y="502920"/>
              <a:ext cx="8321040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" name="Text 1">
              <a:extLst>
                <a:ext uri="{FF2B5EF4-FFF2-40B4-BE49-F238E27FC236}">
                  <a16:creationId xmlns:a16="http://schemas.microsoft.com/office/drawing/2014/main" id="{F30D703D-A7C6-4639-B6D4-046A578DA04A}"/>
                </a:ext>
              </a:extLst>
            </p:cNvPr>
            <p:cNvSpPr/>
            <p:nvPr/>
          </p:nvSpPr>
          <p:spPr>
            <a:xfrm>
              <a:off x="411480" y="548639"/>
              <a:ext cx="8321040" cy="11430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altLang="ko-KR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1. </a:t>
              </a: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지식 확인 체크 리스트</a:t>
              </a:r>
              <a:endParaRPr lang="en-US" sz="3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56792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AAA3F58-A396-4269-8AF6-BA5DA67B4966}"/>
              </a:ext>
            </a:extLst>
          </p:cNvPr>
          <p:cNvGrpSpPr/>
          <p:nvPr/>
        </p:nvGrpSpPr>
        <p:grpSpPr>
          <a:xfrm>
            <a:off x="307422" y="339083"/>
            <a:ext cx="11558802" cy="2647957"/>
            <a:chOff x="336919" y="440683"/>
            <a:chExt cx="11558802" cy="264795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385801A-2D48-4260-8CED-60E42DC6B0A6}"/>
                </a:ext>
              </a:extLst>
            </p:cNvPr>
            <p:cNvSpPr txBox="1"/>
            <p:nvPr/>
          </p:nvSpPr>
          <p:spPr>
            <a:xfrm>
              <a:off x="336919" y="440683"/>
              <a:ext cx="11558802" cy="54103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r>
                <a:rPr lang="en-US" altLang="ko-KR" sz="2400" dirty="0">
                  <a:solidFill>
                    <a:schemeClr val="bg1"/>
                  </a:solidFill>
                  <a:latin typeface="+mj-ea"/>
                  <a:ea typeface="+mj-ea"/>
                </a:rPr>
                <a:t>1.</a:t>
              </a:r>
              <a:r>
                <a:rPr kumimoji="0" lang="ko-KR" altLang="ko-KR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 </a:t>
              </a:r>
              <a:r>
                <a:rPr kumimoji="0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소프트웨어 테스트를 수행하는 근본적인 목적을 </a:t>
              </a:r>
              <a:r>
                <a:rPr kumimoji="0" lang="ko-KR" altLang="ko-KR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설명할 수 있다.</a:t>
              </a:r>
              <a:endParaRPr lang="ko-KR" altLang="en-US" sz="24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851AC68-0032-4C99-9B58-D0466AD61CDB}"/>
                </a:ext>
              </a:extLst>
            </p:cNvPr>
            <p:cNvSpPr txBox="1"/>
            <p:nvPr/>
          </p:nvSpPr>
          <p:spPr>
            <a:xfrm>
              <a:off x="336919" y="1207045"/>
              <a:ext cx="11518162" cy="18815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000" dirty="0"/>
                <a:t>소프트웨어 테스트의 목적은 프로그램이 </a:t>
              </a:r>
              <a:r>
                <a:rPr lang="ko-KR" altLang="en-US" sz="2000" b="1" dirty="0"/>
                <a:t>요구사항에 맞게 정상적으로 동작하는지 확인하고 결함을 발견하는 것</a:t>
              </a:r>
              <a:r>
                <a:rPr lang="ko-KR" altLang="en-US" sz="2000" dirty="0"/>
                <a:t>이다</a:t>
              </a:r>
              <a:r>
                <a:rPr lang="en-US" altLang="ko-KR" sz="2000" dirty="0"/>
                <a:t>. </a:t>
              </a:r>
              <a:r>
                <a:rPr lang="ko-KR" altLang="en-US" sz="2000" dirty="0"/>
                <a:t>테스트를 통해 예상하지 못한 오류나 기능상의 문제를 사전에 찾아 수정할 수 있다</a:t>
              </a:r>
              <a:r>
                <a:rPr lang="en-US" altLang="ko-KR" sz="2000" dirty="0"/>
                <a:t>. </a:t>
              </a:r>
              <a:r>
                <a:rPr lang="ko-KR" altLang="en-US" sz="2000" dirty="0"/>
                <a:t>이를 통해 소프트웨어의 </a:t>
              </a:r>
              <a:r>
                <a:rPr lang="ko-KR" altLang="en-US" sz="2000" b="1" dirty="0"/>
                <a:t>품질과 신뢰성을 향상시키고 장애 발생 위험을 줄일 수 있다</a:t>
              </a:r>
              <a:r>
                <a:rPr lang="en-US" altLang="ko-KR" sz="2000" b="1" dirty="0"/>
                <a:t>.</a:t>
              </a:r>
              <a:endParaRPr lang="ko-KR" altLang="en-US" sz="2000" dirty="0">
                <a:latin typeface="+mj-ea"/>
                <a:ea typeface="+mj-ea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E1BB615-1DF9-459C-BC33-43AE346AC44A}"/>
              </a:ext>
            </a:extLst>
          </p:cNvPr>
          <p:cNvGrpSpPr/>
          <p:nvPr/>
        </p:nvGrpSpPr>
        <p:grpSpPr>
          <a:xfrm>
            <a:off x="266782" y="3429000"/>
            <a:ext cx="11558802" cy="2890520"/>
            <a:chOff x="336919" y="440683"/>
            <a:chExt cx="11558802" cy="28905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E65F3DD-1D64-4557-912D-86991718CE76}"/>
                </a:ext>
              </a:extLst>
            </p:cNvPr>
            <p:cNvSpPr txBox="1"/>
            <p:nvPr/>
          </p:nvSpPr>
          <p:spPr>
            <a:xfrm>
              <a:off x="336919" y="440683"/>
              <a:ext cx="11558802" cy="54103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r>
                <a:rPr kumimoji="0" lang="en-US" altLang="ko-KR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2. </a:t>
              </a:r>
              <a:r>
                <a:rPr kumimoji="0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단위 테스트</a:t>
              </a:r>
              <a:r>
                <a:rPr kumimoji="0" lang="ko-KR" altLang="ko-KR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와 통합 테스트의 개념 차이를 구분하여 설명할 수 있다. </a:t>
              </a:r>
              <a:endParaRPr lang="ko-KR" altLang="en-US" sz="24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0D24AA7-8A95-4308-9681-D14B01102DCB}"/>
                </a:ext>
              </a:extLst>
            </p:cNvPr>
            <p:cNvSpPr txBox="1"/>
            <p:nvPr/>
          </p:nvSpPr>
          <p:spPr>
            <a:xfrm>
              <a:off x="336919" y="1207045"/>
              <a:ext cx="11518162" cy="212415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000" b="1" dirty="0"/>
                <a:t>단위 테스트</a:t>
              </a:r>
              <a:r>
                <a:rPr lang="en-US" altLang="ko-KR" sz="2000" b="1" dirty="0"/>
                <a:t>(Unit Test)</a:t>
              </a:r>
              <a:r>
                <a:rPr lang="ko-KR" altLang="en-US" sz="2000" dirty="0"/>
                <a:t>는 함수</a:t>
              </a:r>
              <a:r>
                <a:rPr lang="en-US" altLang="ko-KR" sz="2000" dirty="0"/>
                <a:t>, </a:t>
              </a:r>
              <a:r>
                <a:rPr lang="ko-KR" altLang="en-US" sz="2000" dirty="0"/>
                <a:t>메서드</a:t>
              </a:r>
              <a:r>
                <a:rPr lang="en-US" altLang="ko-KR" sz="2000" dirty="0"/>
                <a:t>, </a:t>
              </a:r>
              <a:r>
                <a:rPr lang="ko-KR" altLang="en-US" sz="2000" dirty="0"/>
                <a:t>클래스처럼 프로그램의 작은 기능 단위를 독립적으로 검증하는 테스트이다</a:t>
              </a:r>
              <a:r>
                <a:rPr lang="en-US" altLang="ko-KR" sz="2000" dirty="0"/>
                <a:t>. </a:t>
              </a:r>
              <a:r>
                <a:rPr lang="ko-KR" altLang="en-US" sz="2000" b="1" dirty="0"/>
                <a:t>통합 테스트</a:t>
              </a:r>
              <a:r>
                <a:rPr lang="en-US" altLang="ko-KR" sz="2000" b="1" dirty="0"/>
                <a:t>(Integration Test)</a:t>
              </a:r>
              <a:r>
                <a:rPr lang="ko-KR" altLang="en-US" sz="2000" dirty="0"/>
                <a:t>는 여러 모듈이나 기능을 연결했을 때 서로 올바르게 동작하는지를 검증한다</a:t>
              </a:r>
              <a:r>
                <a:rPr lang="en-US" altLang="ko-KR" sz="2000" dirty="0"/>
                <a:t>. </a:t>
              </a:r>
              <a:r>
                <a:rPr lang="ko-KR" altLang="en-US" sz="2000" dirty="0"/>
                <a:t>즉 단위 테스트는 개별 기능을 확인하고</a:t>
              </a:r>
              <a:r>
                <a:rPr lang="en-US" altLang="ko-KR" sz="2000" dirty="0"/>
                <a:t>, </a:t>
              </a:r>
              <a:r>
                <a:rPr lang="ko-KR" altLang="en-US" sz="2000" dirty="0"/>
                <a:t>통합 테스트는 </a:t>
              </a:r>
              <a:r>
                <a:rPr lang="ko-KR" altLang="en-US" sz="2000" b="1" dirty="0"/>
                <a:t>기능 간 연결과 상호작용</a:t>
              </a:r>
              <a:r>
                <a:rPr lang="ko-KR" altLang="en-US" sz="2000" dirty="0"/>
                <a:t>을 확인한다</a:t>
              </a:r>
              <a:r>
                <a:rPr lang="en-US" altLang="ko-KR" sz="2000" dirty="0"/>
                <a:t>.</a:t>
              </a:r>
              <a:endParaRPr lang="ko-KR" altLang="en-US" sz="2000" dirty="0"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09282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AAA3F58-A396-4269-8AF6-BA5DA67B4966}"/>
              </a:ext>
            </a:extLst>
          </p:cNvPr>
          <p:cNvGrpSpPr/>
          <p:nvPr/>
        </p:nvGrpSpPr>
        <p:grpSpPr>
          <a:xfrm>
            <a:off x="307422" y="339083"/>
            <a:ext cx="11558802" cy="2647957"/>
            <a:chOff x="336919" y="440683"/>
            <a:chExt cx="11558802" cy="264795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385801A-2D48-4260-8CED-60E42DC6B0A6}"/>
                </a:ext>
              </a:extLst>
            </p:cNvPr>
            <p:cNvSpPr txBox="1"/>
            <p:nvPr/>
          </p:nvSpPr>
          <p:spPr>
            <a:xfrm>
              <a:off x="336919" y="440683"/>
              <a:ext cx="11558802" cy="54103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r>
                <a:rPr lang="en-US" altLang="ko-KR" sz="2400" dirty="0">
                  <a:solidFill>
                    <a:schemeClr val="bg1"/>
                  </a:solidFill>
                  <a:latin typeface="+mj-ea"/>
                  <a:ea typeface="+mj-ea"/>
                </a:rPr>
                <a:t>3. </a:t>
              </a:r>
              <a:r>
                <a:rPr lang="ko-KR" altLang="en-US" sz="2400" dirty="0">
                  <a:solidFill>
                    <a:schemeClr val="bg1"/>
                  </a:solidFill>
                  <a:latin typeface="+mj-ea"/>
                  <a:ea typeface="+mj-ea"/>
                </a:rPr>
                <a:t>성능 테스트가 무엇을 확인하기 위한 테스트인지 </a:t>
              </a:r>
              <a:r>
                <a:rPr kumimoji="0" lang="ko-KR" altLang="ko-KR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설명할 수 있다.</a:t>
              </a:r>
              <a:endParaRPr lang="ko-KR" altLang="en-US" sz="24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851AC68-0032-4C99-9B58-D0466AD61CDB}"/>
                </a:ext>
              </a:extLst>
            </p:cNvPr>
            <p:cNvSpPr txBox="1"/>
            <p:nvPr/>
          </p:nvSpPr>
          <p:spPr>
            <a:xfrm>
              <a:off x="336919" y="1207045"/>
              <a:ext cx="11518162" cy="18815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000" dirty="0"/>
                <a:t>성능 테스트는 시스템이 일정한 작업량이나 사용자 요청을 처리할 때 </a:t>
              </a:r>
              <a:r>
                <a:rPr lang="ko-KR" altLang="en-US" sz="2000" b="1" dirty="0"/>
                <a:t>응답 속도와 처리 성능이 적절한지 확인하는 테스트</a:t>
              </a:r>
              <a:r>
                <a:rPr lang="ko-KR" altLang="en-US" sz="2000" dirty="0"/>
                <a:t>이다</a:t>
              </a:r>
              <a:r>
                <a:rPr lang="en-US" altLang="ko-KR" sz="2000" dirty="0"/>
                <a:t>. </a:t>
              </a:r>
              <a:r>
                <a:rPr lang="ko-KR" altLang="en-US" sz="2000" dirty="0"/>
                <a:t>많은 사용자가 동시에 접속하거나 많은 데이터가 처리되는 상황에서 시스템의 성능을 측정할 수 있다</a:t>
              </a:r>
              <a:r>
                <a:rPr lang="en-US" altLang="ko-KR" sz="2000" dirty="0"/>
                <a:t>. </a:t>
              </a:r>
              <a:r>
                <a:rPr lang="ko-KR" altLang="en-US" sz="2000" dirty="0"/>
                <a:t>이를 통해 응답 시간</a:t>
              </a:r>
              <a:r>
                <a:rPr lang="en-US" altLang="ko-KR" sz="2000" dirty="0"/>
                <a:t>, </a:t>
              </a:r>
              <a:r>
                <a:rPr lang="ko-KR" altLang="en-US" sz="2000" dirty="0"/>
                <a:t>처리량</a:t>
              </a:r>
              <a:r>
                <a:rPr lang="en-US" altLang="ko-KR" sz="2000" dirty="0"/>
                <a:t>, </a:t>
              </a:r>
              <a:r>
                <a:rPr lang="ko-KR" altLang="en-US" sz="2000" dirty="0"/>
                <a:t>안정성 및 시스템의 한계를 확인할 수 있다</a:t>
              </a:r>
              <a:r>
                <a:rPr lang="en-US" altLang="ko-KR" sz="2000" dirty="0"/>
                <a:t>.</a:t>
              </a:r>
              <a:endParaRPr lang="ko-KR" altLang="en-US" sz="2000" dirty="0">
                <a:latin typeface="+mj-ea"/>
                <a:ea typeface="+mj-ea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E1BB615-1DF9-459C-BC33-43AE346AC44A}"/>
              </a:ext>
            </a:extLst>
          </p:cNvPr>
          <p:cNvGrpSpPr/>
          <p:nvPr/>
        </p:nvGrpSpPr>
        <p:grpSpPr>
          <a:xfrm>
            <a:off x="266782" y="3429000"/>
            <a:ext cx="11558802" cy="2890520"/>
            <a:chOff x="336919" y="440683"/>
            <a:chExt cx="11558802" cy="28905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E65F3DD-1D64-4557-912D-86991718CE76}"/>
                </a:ext>
              </a:extLst>
            </p:cNvPr>
            <p:cNvSpPr txBox="1"/>
            <p:nvPr/>
          </p:nvSpPr>
          <p:spPr>
            <a:xfrm>
              <a:off x="336919" y="440683"/>
              <a:ext cx="11558802" cy="54103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r>
                <a:rPr kumimoji="0" lang="en-US" altLang="ko-KR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4. Python </a:t>
              </a:r>
              <a:r>
                <a:rPr kumimoji="0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테스트 코드 작성에 사용하는 대표 프레임워크 이름을 말할</a:t>
              </a:r>
              <a:r>
                <a:rPr kumimoji="0" lang="ko-KR" altLang="ko-KR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 수 있다. </a:t>
              </a:r>
              <a:endParaRPr lang="ko-KR" altLang="en-US" sz="24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0D24AA7-8A95-4308-9681-D14B01102DCB}"/>
                </a:ext>
              </a:extLst>
            </p:cNvPr>
            <p:cNvSpPr txBox="1"/>
            <p:nvPr/>
          </p:nvSpPr>
          <p:spPr>
            <a:xfrm>
              <a:off x="336919" y="1207045"/>
              <a:ext cx="11518162" cy="212415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ko-KR" sz="2000" dirty="0" err="1"/>
                <a:t>Python에서</a:t>
              </a:r>
              <a:r>
                <a:rPr lang="ko-KR" altLang="ko-KR" sz="2000" dirty="0"/>
                <a:t> 테스트 코드를 작성할 때 대표적으로 사용하는 프레임워크는 </a:t>
              </a:r>
              <a:r>
                <a:rPr lang="ko-KR" altLang="ko-KR" sz="2000" dirty="0" err="1"/>
                <a:t>pytest이다</a:t>
              </a:r>
              <a:r>
                <a:rPr lang="ko-KR" altLang="ko-KR" sz="2000" dirty="0"/>
                <a:t>. </a:t>
              </a:r>
              <a:r>
                <a:rPr lang="ko-KR" altLang="ko-KR" sz="2000" dirty="0" err="1"/>
                <a:t>pytest는</a:t>
              </a:r>
              <a:r>
                <a:rPr lang="ko-KR" altLang="ko-KR" sz="2000" dirty="0"/>
                <a:t> 간단한 문법으로 테스트 함수를 작성하고 실행할 수 있으며</a:t>
              </a:r>
              <a:r>
                <a:rPr lang="en-US" altLang="ko-KR" sz="2000" dirty="0"/>
                <a:t>,</a:t>
              </a:r>
              <a:r>
                <a:rPr lang="ko-KR" altLang="ko-KR" sz="2000" dirty="0"/>
                <a:t> </a:t>
              </a:r>
              <a:r>
                <a:rPr lang="ko-KR" altLang="ko-KR" sz="2000" dirty="0" err="1"/>
                <a:t>assert를</a:t>
              </a:r>
              <a:r>
                <a:rPr lang="ko-KR" altLang="ko-KR" sz="2000" dirty="0"/>
                <a:t> 이용하여 실제 결과와 기대 결과를 비교할 수 있다. 테스트 실행 결과를 통해 성공과 실패 여부를 쉽게 확인할 수 있다. </a:t>
              </a:r>
            </a:p>
            <a:p>
              <a:pPr algn="just">
                <a:lnSpc>
                  <a:spcPct val="150000"/>
                </a:lnSpc>
              </a:pPr>
              <a:endParaRPr lang="ko-KR" altLang="en-US" sz="2000" dirty="0"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8873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AAA3F58-A396-4269-8AF6-BA5DA67B4966}"/>
              </a:ext>
            </a:extLst>
          </p:cNvPr>
          <p:cNvGrpSpPr/>
          <p:nvPr/>
        </p:nvGrpSpPr>
        <p:grpSpPr>
          <a:xfrm>
            <a:off x="307422" y="339083"/>
            <a:ext cx="11558802" cy="2647957"/>
            <a:chOff x="336919" y="440683"/>
            <a:chExt cx="11558802" cy="264795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385801A-2D48-4260-8CED-60E42DC6B0A6}"/>
                </a:ext>
              </a:extLst>
            </p:cNvPr>
            <p:cNvSpPr txBox="1"/>
            <p:nvPr/>
          </p:nvSpPr>
          <p:spPr>
            <a:xfrm>
              <a:off x="336919" y="440683"/>
              <a:ext cx="11558802" cy="54103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r>
                <a:rPr lang="en-US" altLang="ko-KR" sz="2400" dirty="0">
                  <a:solidFill>
                    <a:schemeClr val="bg1"/>
                  </a:solidFill>
                  <a:latin typeface="+mj-ea"/>
                  <a:ea typeface="+mj-ea"/>
                </a:rPr>
                <a:t>5. </a:t>
              </a:r>
              <a:r>
                <a:rPr lang="en-US" altLang="ko-KR" sz="2400" dirty="0" err="1">
                  <a:solidFill>
                    <a:schemeClr val="bg1"/>
                  </a:solidFill>
                  <a:latin typeface="+mj-ea"/>
                  <a:ea typeface="+mj-ea"/>
                </a:rPr>
                <a:t>FastAPI</a:t>
              </a:r>
              <a:r>
                <a:rPr lang="en-US" altLang="ko-KR" sz="2400" dirty="0">
                  <a:solidFill>
                    <a:schemeClr val="bg1"/>
                  </a:solidFill>
                  <a:latin typeface="+mj-ea"/>
                  <a:ea typeface="+mj-ea"/>
                </a:rPr>
                <a:t> </a:t>
              </a:r>
              <a:r>
                <a:rPr lang="ko-KR" altLang="en-US" sz="2400" dirty="0" err="1">
                  <a:solidFill>
                    <a:schemeClr val="bg1"/>
                  </a:solidFill>
                  <a:latin typeface="+mj-ea"/>
                  <a:ea typeface="+mj-ea"/>
                </a:rPr>
                <a:t>엔드포인트를</a:t>
              </a:r>
              <a:r>
                <a:rPr lang="ko-KR" altLang="en-US" sz="2400" dirty="0">
                  <a:solidFill>
                    <a:schemeClr val="bg1"/>
                  </a:solidFill>
                  <a:latin typeface="+mj-ea"/>
                  <a:ea typeface="+mj-ea"/>
                </a:rPr>
                <a:t> 서버 구동 없이 테스트하는 방법</a:t>
              </a:r>
              <a:r>
                <a:rPr lang="en-US" altLang="ko-KR" sz="2400" dirty="0">
                  <a:solidFill>
                    <a:schemeClr val="bg1"/>
                  </a:solidFill>
                  <a:latin typeface="+mj-ea"/>
                  <a:ea typeface="+mj-ea"/>
                </a:rPr>
                <a:t>(</a:t>
              </a:r>
              <a:r>
                <a:rPr lang="ko-KR" altLang="en-US" sz="2400" dirty="0">
                  <a:solidFill>
                    <a:schemeClr val="bg1"/>
                  </a:solidFill>
                  <a:latin typeface="+mj-ea"/>
                  <a:ea typeface="+mj-ea"/>
                </a:rPr>
                <a:t>도구</a:t>
              </a:r>
              <a:r>
                <a:rPr lang="en-US" altLang="ko-KR" sz="2400" dirty="0">
                  <a:solidFill>
                    <a:schemeClr val="bg1"/>
                  </a:solidFill>
                  <a:latin typeface="+mj-ea"/>
                  <a:ea typeface="+mj-ea"/>
                </a:rPr>
                <a:t>)</a:t>
              </a:r>
              <a:r>
                <a:rPr lang="ko-KR" altLang="en-US" sz="2400" dirty="0">
                  <a:solidFill>
                    <a:schemeClr val="bg1"/>
                  </a:solidFill>
                  <a:latin typeface="+mj-ea"/>
                  <a:ea typeface="+mj-ea"/>
                </a:rPr>
                <a:t>을 말할 </a:t>
              </a:r>
              <a:r>
                <a:rPr kumimoji="0" lang="ko-KR" altLang="ko-KR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수 있다.</a:t>
              </a:r>
              <a:endParaRPr lang="ko-KR" altLang="en-US" sz="24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851AC68-0032-4C99-9B58-D0466AD61CDB}"/>
                </a:ext>
              </a:extLst>
            </p:cNvPr>
            <p:cNvSpPr txBox="1"/>
            <p:nvPr/>
          </p:nvSpPr>
          <p:spPr>
            <a:xfrm>
              <a:off x="336919" y="1207045"/>
              <a:ext cx="11518162" cy="18815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ko-KR" sz="2000" dirty="0" err="1"/>
                <a:t>FastAPI</a:t>
              </a:r>
              <a:r>
                <a:rPr lang="ko-KR" altLang="en-US" sz="2000" dirty="0"/>
                <a:t>에서는 </a:t>
              </a:r>
              <a:r>
                <a:rPr lang="en-US" altLang="ko-KR" sz="2000" b="1" dirty="0" err="1"/>
                <a:t>TestClient</a:t>
              </a:r>
              <a:r>
                <a:rPr lang="ko-KR" altLang="en-US" sz="2000" dirty="0"/>
                <a:t>를 사용하면 실제 서버를 별도로 실행하지 않고도 </a:t>
              </a:r>
              <a:r>
                <a:rPr lang="en-US" altLang="ko-KR" sz="2000" dirty="0"/>
                <a:t>API </a:t>
              </a:r>
              <a:r>
                <a:rPr lang="ko-KR" altLang="en-US" sz="2000" dirty="0" err="1"/>
                <a:t>엔드포인트를</a:t>
              </a:r>
              <a:r>
                <a:rPr lang="ko-KR" altLang="en-US" sz="2000" dirty="0"/>
                <a:t> 테스트할 수 있다</a:t>
              </a:r>
              <a:r>
                <a:rPr lang="en-US" altLang="ko-KR" sz="2000" dirty="0"/>
                <a:t>. </a:t>
              </a:r>
              <a:r>
                <a:rPr lang="en-US" altLang="ko-KR" sz="2000" dirty="0" err="1"/>
                <a:t>TestClient</a:t>
              </a:r>
              <a:r>
                <a:rPr lang="ko-KR" altLang="en-US" sz="2000" dirty="0"/>
                <a:t>를 이용하여 </a:t>
              </a:r>
              <a:r>
                <a:rPr lang="en-US" altLang="ko-KR" sz="2000" dirty="0"/>
                <a:t>GET, POST </a:t>
              </a:r>
              <a:r>
                <a:rPr lang="ko-KR" altLang="en-US" sz="2000" dirty="0"/>
                <a:t>등의 </a:t>
              </a:r>
              <a:r>
                <a:rPr lang="en-US" altLang="ko-KR" sz="2000" dirty="0"/>
                <a:t>HTTP </a:t>
              </a:r>
              <a:r>
                <a:rPr lang="ko-KR" altLang="en-US" sz="2000" dirty="0"/>
                <a:t>요청을 보내고 응답 상태 코드와 반환 데이터를 확인한다</a:t>
              </a:r>
              <a:r>
                <a:rPr lang="en-US" altLang="ko-KR" sz="2000" dirty="0"/>
                <a:t>. </a:t>
              </a:r>
              <a:r>
                <a:rPr lang="ko-KR" altLang="en-US" sz="2000" dirty="0"/>
                <a:t>이를 통해 </a:t>
              </a:r>
              <a:r>
                <a:rPr lang="en-US" altLang="ko-KR" sz="2000" dirty="0"/>
                <a:t>API</a:t>
              </a:r>
              <a:r>
                <a:rPr lang="ko-KR" altLang="en-US" sz="2000" dirty="0"/>
                <a:t>가 예상한 결과를 반환하는지 자동으로 검증할 수 있다</a:t>
              </a:r>
              <a:r>
                <a:rPr lang="en-US" altLang="ko-KR" sz="2000" dirty="0"/>
                <a:t>.</a:t>
              </a:r>
              <a:endParaRPr lang="ko-KR" altLang="en-US" sz="2000" dirty="0">
                <a:latin typeface="+mj-ea"/>
                <a:ea typeface="+mj-ea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E1BB615-1DF9-459C-BC33-43AE346AC44A}"/>
              </a:ext>
            </a:extLst>
          </p:cNvPr>
          <p:cNvGrpSpPr/>
          <p:nvPr/>
        </p:nvGrpSpPr>
        <p:grpSpPr>
          <a:xfrm>
            <a:off x="266782" y="3212369"/>
            <a:ext cx="11558802" cy="2890520"/>
            <a:chOff x="336919" y="440683"/>
            <a:chExt cx="11558802" cy="28905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E65F3DD-1D64-4557-912D-86991718CE76}"/>
                </a:ext>
              </a:extLst>
            </p:cNvPr>
            <p:cNvSpPr txBox="1"/>
            <p:nvPr/>
          </p:nvSpPr>
          <p:spPr>
            <a:xfrm>
              <a:off x="336919" y="440683"/>
              <a:ext cx="11558802" cy="54103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r>
                <a:rPr kumimoji="0" lang="en-US" altLang="ko-KR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6. </a:t>
              </a:r>
              <a:r>
                <a:rPr kumimoji="0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요청 성공</a:t>
              </a:r>
              <a:r>
                <a:rPr kumimoji="0" lang="en-US" altLang="ko-KR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/</a:t>
              </a:r>
              <a:r>
                <a:rPr kumimoji="0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리소스 없음에 해당하는 </a:t>
              </a:r>
              <a:r>
                <a:rPr kumimoji="0" lang="en-US" altLang="ko-KR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HTTP </a:t>
              </a:r>
              <a:r>
                <a:rPr kumimoji="0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상태 코드를 각각 말할 수 있다</a:t>
              </a:r>
              <a:r>
                <a:rPr kumimoji="0" lang="en-US" altLang="ko-KR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.</a:t>
              </a:r>
              <a:endParaRPr lang="ko-KR" altLang="en-US" sz="24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0D24AA7-8A95-4308-9681-D14B01102DCB}"/>
                </a:ext>
              </a:extLst>
            </p:cNvPr>
            <p:cNvSpPr txBox="1"/>
            <p:nvPr/>
          </p:nvSpPr>
          <p:spPr>
            <a:xfrm>
              <a:off x="336919" y="1207045"/>
              <a:ext cx="11518162" cy="212415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just">
                <a:lnSpc>
                  <a:spcPct val="150000"/>
                </a:lnSpc>
              </a:pP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 (본문)"/>
                </a:rPr>
                <a:t>HTTP 요청이 정상적으로 처리되었을 때는 일반적으로 </a:t>
              </a:r>
              <a:r>
                <a:rPr kumimoji="0" lang="en-US" altLang="ko-KR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 (본문)"/>
                </a:rPr>
                <a:t>‘</a:t>
              </a:r>
              <a:r>
                <a:rPr kumimoji="0" lang="ko-KR" altLang="ko-KR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 (본문)"/>
                </a:rPr>
                <a:t>200 OK</a:t>
              </a:r>
              <a:r>
                <a:rPr kumimoji="0" lang="en-US" altLang="ko-KR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 (본문)"/>
                </a:rPr>
                <a:t>’</a:t>
              </a: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 (본문)"/>
                </a:rPr>
                <a:t> 상태 코드를 사용한다. 요청한 리소스를 서버에서 찾을 수 없는 경우에는 </a:t>
              </a:r>
              <a:r>
                <a:rPr kumimoji="0" lang="en-US" altLang="ko-KR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 (본문)"/>
                </a:rPr>
                <a:t>‘</a:t>
              </a:r>
              <a:r>
                <a:rPr kumimoji="0" lang="ko-KR" altLang="ko-KR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 (본문)"/>
                </a:rPr>
                <a:t>404 </a:t>
              </a:r>
              <a:r>
                <a:rPr kumimoji="0" lang="ko-KR" altLang="ko-KR" sz="2000" b="1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맑은 고딕 (본문)"/>
                </a:rPr>
                <a:t>Not</a:t>
              </a:r>
              <a:r>
                <a:rPr kumimoji="0" lang="ko-KR" altLang="ko-KR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 (본문)"/>
                </a:rPr>
                <a:t> </a:t>
              </a:r>
              <a:r>
                <a:rPr kumimoji="0" lang="ko-KR" altLang="ko-KR" sz="2000" b="1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맑은 고딕 (본문)"/>
                </a:rPr>
                <a:t>Found</a:t>
              </a:r>
              <a:r>
                <a:rPr kumimoji="0" lang="en-US" altLang="ko-KR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 (본문)"/>
                </a:rPr>
                <a:t>’</a:t>
              </a: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 (본문)"/>
                </a:rPr>
                <a:t>를 사용한다. 따라서 성공은 200, 리소스 없음은 404로 구분할 수 있다</a:t>
              </a:r>
              <a:r>
                <a:rPr kumimoji="0" lang="en-US" altLang="ko-KR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 (본문)"/>
                </a:rPr>
                <a:t>.</a:t>
              </a:r>
              <a:endPara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(본문)"/>
              </a:endParaRPr>
            </a:p>
            <a:p>
              <a:pPr algn="just">
                <a:lnSpc>
                  <a:spcPct val="150000"/>
                </a:lnSpc>
              </a:pPr>
              <a:endParaRPr lang="ko-KR" altLang="en-US" sz="2000" dirty="0">
                <a:latin typeface="+mj-ea"/>
                <a:ea typeface="+mj-ea"/>
              </a:endParaRPr>
            </a:p>
          </p:txBody>
        </p:sp>
      </p:grpSp>
      <p:sp>
        <p:nvSpPr>
          <p:cNvPr id="10" name="Rectangle 3">
            <a:extLst>
              <a:ext uri="{FF2B5EF4-FFF2-40B4-BE49-F238E27FC236}">
                <a16:creationId xmlns:a16="http://schemas.microsoft.com/office/drawing/2014/main" id="{7E96B16B-6C42-4A6B-8AA8-84968C686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0480" y="-2560320"/>
            <a:ext cx="10891520" cy="132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347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AAA3F58-A396-4269-8AF6-BA5DA67B4966}"/>
              </a:ext>
            </a:extLst>
          </p:cNvPr>
          <p:cNvGrpSpPr/>
          <p:nvPr/>
        </p:nvGrpSpPr>
        <p:grpSpPr>
          <a:xfrm>
            <a:off x="307422" y="339083"/>
            <a:ext cx="11558802" cy="2647957"/>
            <a:chOff x="336919" y="440683"/>
            <a:chExt cx="11558802" cy="264795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385801A-2D48-4260-8CED-60E42DC6B0A6}"/>
                </a:ext>
              </a:extLst>
            </p:cNvPr>
            <p:cNvSpPr txBox="1"/>
            <p:nvPr/>
          </p:nvSpPr>
          <p:spPr>
            <a:xfrm>
              <a:off x="336919" y="440683"/>
              <a:ext cx="11558802" cy="54103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r>
                <a:rPr kumimoji="0" lang="en-US" altLang="ko-KR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7. </a:t>
              </a:r>
              <a:r>
                <a:rPr kumimoji="0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테스트 케이스에 반드시 포함되어야 하는 </a:t>
              </a:r>
              <a:r>
                <a:rPr kumimoji="0" lang="en-US" altLang="ko-KR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3</a:t>
              </a:r>
              <a:r>
                <a:rPr kumimoji="0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가지 구성요소를 말할 수 있다</a:t>
              </a:r>
              <a:r>
                <a:rPr kumimoji="0" lang="en-US" altLang="ko-KR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.</a:t>
              </a:r>
              <a:endParaRPr lang="ko-KR" altLang="en-US" sz="24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851AC68-0032-4C99-9B58-D0466AD61CDB}"/>
                </a:ext>
              </a:extLst>
            </p:cNvPr>
            <p:cNvSpPr txBox="1"/>
            <p:nvPr/>
          </p:nvSpPr>
          <p:spPr>
            <a:xfrm>
              <a:off x="336919" y="1207045"/>
              <a:ext cx="11518162" cy="18815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000" dirty="0"/>
                <a:t>테스트 케이스에는 기본적으로 </a:t>
              </a:r>
              <a:r>
                <a:rPr lang="ko-KR" altLang="en-US" sz="2000" b="1" dirty="0" err="1"/>
                <a:t>입력값</a:t>
              </a:r>
              <a:r>
                <a:rPr lang="en-US" altLang="ko-KR" sz="2000" b="1" dirty="0"/>
                <a:t>, </a:t>
              </a:r>
              <a:r>
                <a:rPr lang="ko-KR" altLang="en-US" sz="2000" b="1" dirty="0"/>
                <a:t>기대 결과</a:t>
              </a:r>
              <a:r>
                <a:rPr lang="en-US" altLang="ko-KR" sz="2000" b="1" dirty="0"/>
                <a:t>, </a:t>
              </a:r>
              <a:r>
                <a:rPr lang="ko-KR" altLang="en-US" sz="2000" b="1" dirty="0"/>
                <a:t>실제 결과</a:t>
              </a:r>
              <a:r>
                <a:rPr lang="ko-KR" altLang="en-US" sz="2000" dirty="0"/>
                <a:t>가 포함되어야 한다</a:t>
              </a:r>
              <a:r>
                <a:rPr lang="en-US" altLang="ko-KR" sz="2000" dirty="0"/>
                <a:t>. </a:t>
              </a:r>
              <a:r>
                <a:rPr lang="ko-KR" altLang="en-US" sz="2000" dirty="0" err="1"/>
                <a:t>입력값은</a:t>
              </a:r>
              <a:r>
                <a:rPr lang="ko-KR" altLang="en-US" sz="2000" dirty="0"/>
                <a:t> 테스트할 데이터를 의미하며 기대 결과는 정상적으로 동작했을 때 나와야 하는 결과이다</a:t>
              </a:r>
              <a:r>
                <a:rPr lang="en-US" altLang="ko-KR" sz="2000" dirty="0"/>
                <a:t>. </a:t>
              </a:r>
              <a:r>
                <a:rPr lang="ko-KR" altLang="en-US" sz="2000" dirty="0"/>
                <a:t>실제 결과와 기대 결과를 비교하여 테스트의 </a:t>
              </a:r>
              <a:r>
                <a:rPr lang="en-US" altLang="ko-KR" sz="2000" b="1" dirty="0"/>
                <a:t>Pass </a:t>
              </a:r>
              <a:r>
                <a:rPr lang="ko-KR" altLang="en-US" sz="2000" b="1" dirty="0"/>
                <a:t>또는 </a:t>
              </a:r>
              <a:r>
                <a:rPr lang="en-US" altLang="ko-KR" sz="2000" b="1" dirty="0"/>
                <a:t>Fail </a:t>
              </a:r>
              <a:r>
                <a:rPr lang="ko-KR" altLang="en-US" sz="2000" b="1" dirty="0"/>
                <a:t>여부를 판단</a:t>
              </a:r>
              <a:r>
                <a:rPr lang="ko-KR" altLang="en-US" sz="2000" dirty="0"/>
                <a:t>할 수 있다</a:t>
              </a:r>
              <a:r>
                <a:rPr lang="en-US" altLang="ko-KR" sz="2000" b="1" dirty="0"/>
                <a:t>.</a:t>
              </a:r>
              <a:endParaRPr lang="ko-KR" altLang="en-US" sz="2000" dirty="0">
                <a:latin typeface="+mj-ea"/>
                <a:ea typeface="+mj-ea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E1BB615-1DF9-459C-BC33-43AE346AC44A}"/>
              </a:ext>
            </a:extLst>
          </p:cNvPr>
          <p:cNvGrpSpPr/>
          <p:nvPr/>
        </p:nvGrpSpPr>
        <p:grpSpPr>
          <a:xfrm>
            <a:off x="266782" y="3429000"/>
            <a:ext cx="11558802" cy="2890520"/>
            <a:chOff x="336919" y="440683"/>
            <a:chExt cx="11558802" cy="28905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E65F3DD-1D64-4557-912D-86991718CE76}"/>
                </a:ext>
              </a:extLst>
            </p:cNvPr>
            <p:cNvSpPr txBox="1"/>
            <p:nvPr/>
          </p:nvSpPr>
          <p:spPr>
            <a:xfrm>
              <a:off x="336919" y="440683"/>
              <a:ext cx="11558802" cy="54103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r>
                <a:rPr kumimoji="0" lang="en-US" altLang="ko-KR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8. </a:t>
              </a:r>
              <a:r>
                <a:rPr kumimoji="0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결함보고서에 포함되어야 할 항목을 </a:t>
              </a:r>
              <a:r>
                <a:rPr kumimoji="0" lang="en-US" altLang="ko-KR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3</a:t>
              </a:r>
              <a:r>
                <a:rPr kumimoji="0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가지 이상 말할 수 있다</a:t>
              </a:r>
              <a:r>
                <a:rPr kumimoji="0" lang="en-US" altLang="ko-KR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.</a:t>
              </a:r>
              <a:endParaRPr lang="ko-KR" altLang="en-US" sz="24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0D24AA7-8A95-4308-9681-D14B01102DCB}"/>
                </a:ext>
              </a:extLst>
            </p:cNvPr>
            <p:cNvSpPr txBox="1"/>
            <p:nvPr/>
          </p:nvSpPr>
          <p:spPr>
            <a:xfrm>
              <a:off x="336919" y="1207045"/>
              <a:ext cx="11518162" cy="212415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000" dirty="0"/>
                <a:t>결함보고서에는 결함을 명확하게 관리하기 위해 </a:t>
              </a:r>
              <a:r>
                <a:rPr lang="ko-KR" altLang="en-US" sz="2000" b="1" dirty="0"/>
                <a:t>결함 </a:t>
              </a:r>
              <a:r>
                <a:rPr lang="en-US" altLang="ko-KR" sz="2000" b="1" dirty="0"/>
                <a:t>ID, </a:t>
              </a:r>
              <a:r>
                <a:rPr lang="ko-KR" altLang="en-US" sz="2000" b="1" dirty="0"/>
                <a:t>결함 제목</a:t>
              </a:r>
              <a:r>
                <a:rPr lang="en-US" altLang="ko-KR" sz="2000" b="1" dirty="0"/>
                <a:t>, </a:t>
              </a:r>
              <a:r>
                <a:rPr lang="ko-KR" altLang="en-US" sz="2000" b="1" dirty="0"/>
                <a:t>재현 절차</a:t>
              </a:r>
              <a:r>
                <a:rPr lang="en-US" altLang="ko-KR" sz="2000" b="1" dirty="0"/>
                <a:t>, </a:t>
              </a:r>
              <a:r>
                <a:rPr lang="ko-KR" altLang="en-US" sz="2000" b="1" dirty="0"/>
                <a:t>기대 결과</a:t>
              </a:r>
              <a:r>
                <a:rPr lang="en-US" altLang="ko-KR" sz="2000" b="1" dirty="0"/>
                <a:t>, </a:t>
              </a:r>
              <a:r>
                <a:rPr lang="ko-KR" altLang="en-US" sz="2000" b="1" dirty="0"/>
                <a:t>실제 결과</a:t>
              </a:r>
              <a:r>
                <a:rPr lang="ko-KR" altLang="en-US" sz="2000" dirty="0"/>
                <a:t> 등이 포함되어야 한다</a:t>
              </a:r>
              <a:r>
                <a:rPr lang="en-US" altLang="ko-KR" sz="2000" dirty="0"/>
                <a:t>. </a:t>
              </a:r>
              <a:r>
                <a:rPr lang="ko-KR" altLang="en-US" sz="2000" dirty="0"/>
                <a:t>또한 결함이 시스템에 미치는 영향을 나타내는 </a:t>
              </a:r>
              <a:r>
                <a:rPr lang="ko-KR" altLang="en-US" sz="2000" b="1" dirty="0"/>
                <a:t>심각도와 수정 우선순위</a:t>
              </a:r>
              <a:r>
                <a:rPr lang="ko-KR" altLang="en-US" sz="2000" dirty="0"/>
                <a:t>를 기록한다</a:t>
              </a:r>
              <a:r>
                <a:rPr lang="en-US" altLang="ko-KR" sz="2000" dirty="0"/>
                <a:t>. </a:t>
              </a:r>
              <a:r>
                <a:rPr lang="ko-KR" altLang="en-US" sz="2000" dirty="0"/>
                <a:t>이러한 정보를 구체적으로 작성하면 개발자가 문제를 쉽게 재현하고 수정할 수 있다</a:t>
              </a:r>
              <a:r>
                <a:rPr lang="en-US" altLang="ko-KR" sz="2000" dirty="0"/>
                <a:t>.</a:t>
              </a:r>
              <a:endParaRPr lang="ko-KR" altLang="en-US" sz="2000" dirty="0"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3435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AAA3F58-A396-4269-8AF6-BA5DA67B4966}"/>
              </a:ext>
            </a:extLst>
          </p:cNvPr>
          <p:cNvGrpSpPr/>
          <p:nvPr/>
        </p:nvGrpSpPr>
        <p:grpSpPr>
          <a:xfrm>
            <a:off x="307422" y="339083"/>
            <a:ext cx="11558802" cy="2647957"/>
            <a:chOff x="336919" y="440683"/>
            <a:chExt cx="11558802" cy="264795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385801A-2D48-4260-8CED-60E42DC6B0A6}"/>
                </a:ext>
              </a:extLst>
            </p:cNvPr>
            <p:cNvSpPr txBox="1"/>
            <p:nvPr/>
          </p:nvSpPr>
          <p:spPr>
            <a:xfrm>
              <a:off x="336919" y="440683"/>
              <a:ext cx="11558802" cy="54103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r>
                <a:rPr lang="en-US" altLang="ko-KR" sz="2400" dirty="0">
                  <a:solidFill>
                    <a:schemeClr val="bg1"/>
                  </a:solidFill>
                  <a:latin typeface="+mj-ea"/>
                  <a:ea typeface="+mj-ea"/>
                </a:rPr>
                <a:t>9. CI(</a:t>
              </a:r>
              <a:r>
                <a:rPr lang="ko-KR" altLang="en-US" sz="2400" dirty="0">
                  <a:solidFill>
                    <a:schemeClr val="bg1"/>
                  </a:solidFill>
                  <a:latin typeface="+mj-ea"/>
                  <a:ea typeface="+mj-ea"/>
                </a:rPr>
                <a:t>지속성 통합</a:t>
              </a:r>
              <a:r>
                <a:rPr lang="en-US" altLang="ko-KR" sz="2400" dirty="0">
                  <a:solidFill>
                    <a:schemeClr val="bg1"/>
                  </a:solidFill>
                  <a:latin typeface="+mj-ea"/>
                  <a:ea typeface="+mj-ea"/>
                </a:rPr>
                <a:t>)</a:t>
              </a:r>
              <a:r>
                <a:rPr lang="ko-KR" altLang="en-US" sz="2400" dirty="0">
                  <a:solidFill>
                    <a:schemeClr val="bg1"/>
                  </a:solidFill>
                  <a:latin typeface="+mj-ea"/>
                  <a:ea typeface="+mj-ea"/>
                </a:rPr>
                <a:t>의 개념을 설명할 수 있다</a:t>
              </a:r>
              <a:r>
                <a:rPr lang="en-US" altLang="ko-KR" sz="2400" dirty="0">
                  <a:solidFill>
                    <a:schemeClr val="bg1"/>
                  </a:solidFill>
                  <a:latin typeface="+mj-ea"/>
                  <a:ea typeface="+mj-ea"/>
                </a:rPr>
                <a:t>.</a:t>
              </a:r>
              <a:endParaRPr lang="ko-KR" altLang="en-US" sz="24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851AC68-0032-4C99-9B58-D0466AD61CDB}"/>
                </a:ext>
              </a:extLst>
            </p:cNvPr>
            <p:cNvSpPr txBox="1"/>
            <p:nvPr/>
          </p:nvSpPr>
          <p:spPr>
            <a:xfrm>
              <a:off x="336919" y="1207045"/>
              <a:ext cx="11518162" cy="18815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ko-KR" sz="2000" b="1" dirty="0"/>
                <a:t>CI(Continuous Integration, </a:t>
              </a:r>
              <a:r>
                <a:rPr lang="ko-KR" altLang="en-US" sz="2000" b="1" dirty="0"/>
                <a:t>지속적 통합</a:t>
              </a:r>
              <a:r>
                <a:rPr lang="en-US" altLang="ko-KR" sz="2000" b="1" dirty="0"/>
                <a:t>)</a:t>
              </a:r>
              <a:r>
                <a:rPr lang="ko-KR" altLang="en-US" sz="2000" dirty="0"/>
                <a:t>는 개발자가 작성한 코드를 자주 공용 저장소에 통합하고</a:t>
              </a:r>
              <a:r>
                <a:rPr lang="en-US" altLang="ko-KR" sz="2000" dirty="0"/>
                <a:t>, </a:t>
              </a:r>
              <a:r>
                <a:rPr lang="ko-KR" altLang="en-US" sz="2000" dirty="0"/>
                <a:t>변경된 코드에 대해 자동으로 빌드와 테스트를 수행하는 개발 방식이다</a:t>
              </a:r>
              <a:r>
                <a:rPr lang="en-US" altLang="ko-KR" sz="2000" dirty="0"/>
                <a:t>. </a:t>
              </a:r>
              <a:r>
                <a:rPr lang="ko-KR" altLang="en-US" sz="2000" dirty="0"/>
                <a:t>코드가 추가되거나 수정될 때마다 자동 테스트를 실행하여 오류를 빠르게 발견할 수 있다</a:t>
              </a:r>
              <a:r>
                <a:rPr lang="en-US" altLang="ko-KR" sz="2000" dirty="0"/>
                <a:t>. </a:t>
              </a:r>
              <a:r>
                <a:rPr lang="ko-KR" altLang="en-US" sz="2000" dirty="0"/>
                <a:t>이를 통해 코드 품질을 유지하고 여러 개발자의 코드 통합 과정에서 발생하는 문제를 줄일 수 있다</a:t>
              </a:r>
              <a:r>
                <a:rPr lang="en-US" altLang="ko-KR" sz="2000" b="1" dirty="0"/>
                <a:t>.</a:t>
              </a:r>
              <a:endParaRPr lang="ko-KR" altLang="en-US" sz="2000" dirty="0">
                <a:latin typeface="+mj-ea"/>
                <a:ea typeface="+mj-ea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E1BB615-1DF9-459C-BC33-43AE346AC44A}"/>
              </a:ext>
            </a:extLst>
          </p:cNvPr>
          <p:cNvGrpSpPr/>
          <p:nvPr/>
        </p:nvGrpSpPr>
        <p:grpSpPr>
          <a:xfrm>
            <a:off x="266782" y="3429000"/>
            <a:ext cx="11558802" cy="2890520"/>
            <a:chOff x="336919" y="440683"/>
            <a:chExt cx="11558802" cy="28905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E65F3DD-1D64-4557-912D-86991718CE76}"/>
                </a:ext>
              </a:extLst>
            </p:cNvPr>
            <p:cNvSpPr txBox="1"/>
            <p:nvPr/>
          </p:nvSpPr>
          <p:spPr>
            <a:xfrm>
              <a:off x="336919" y="440683"/>
              <a:ext cx="11558802" cy="54103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r>
                <a:rPr kumimoji="0" lang="en-US" altLang="ko-KR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10. </a:t>
              </a:r>
              <a:r>
                <a:rPr kumimoji="0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블랙박스 테스트가 무엇인지 설명할 수 있다</a:t>
              </a:r>
              <a:r>
                <a:rPr kumimoji="0" lang="en-US" altLang="ko-KR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.</a:t>
              </a:r>
              <a:endParaRPr lang="ko-KR" altLang="en-US" sz="24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0D24AA7-8A95-4308-9681-D14B01102DCB}"/>
                </a:ext>
              </a:extLst>
            </p:cNvPr>
            <p:cNvSpPr txBox="1"/>
            <p:nvPr/>
          </p:nvSpPr>
          <p:spPr>
            <a:xfrm>
              <a:off x="336919" y="1207045"/>
              <a:ext cx="11518162" cy="212415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000" dirty="0"/>
                <a:t>블랙박스 테스트는 프로그램의 </a:t>
              </a:r>
              <a:r>
                <a:rPr lang="ko-KR" altLang="en-US" sz="2000" b="1" dirty="0"/>
                <a:t>내부 코드나 구조를 확인하지 않고 입력과 출력 결과를 기준으로 기능을 검증하는 테스트 방법</a:t>
              </a:r>
              <a:r>
                <a:rPr lang="ko-KR" altLang="en-US" sz="2000" dirty="0"/>
                <a:t>이다</a:t>
              </a:r>
              <a:r>
                <a:rPr lang="en-US" altLang="ko-KR" sz="2000" dirty="0"/>
                <a:t>. </a:t>
              </a:r>
              <a:r>
                <a:rPr lang="ko-KR" altLang="en-US" sz="2000" dirty="0"/>
                <a:t>사용자의 관점에서 특정 </a:t>
              </a:r>
              <a:r>
                <a:rPr lang="ko-KR" altLang="en-US" sz="2000" dirty="0" err="1"/>
                <a:t>입력값을</a:t>
              </a:r>
              <a:r>
                <a:rPr lang="ko-KR" altLang="en-US" sz="2000" dirty="0"/>
                <a:t> 넣었을 때 요구사항에 맞는 결과가 나오는지를 확인한다</a:t>
              </a:r>
              <a:r>
                <a:rPr lang="en-US" altLang="ko-KR" sz="2000" dirty="0"/>
                <a:t>. </a:t>
              </a:r>
              <a:r>
                <a:rPr lang="ko-KR" altLang="en-US" sz="2000" dirty="0"/>
                <a:t>따라서 내부 구현 방법보다는 </a:t>
              </a:r>
              <a:r>
                <a:rPr lang="ko-KR" altLang="en-US" sz="2000" b="1" dirty="0"/>
                <a:t>기능의 정상 동작 여부</a:t>
              </a:r>
              <a:r>
                <a:rPr lang="ko-KR" altLang="en-US" sz="2000" dirty="0"/>
                <a:t>에 초점을 둔다</a:t>
              </a:r>
              <a:r>
                <a:rPr lang="en-US" altLang="ko-KR" sz="2000" dirty="0"/>
                <a:t>.</a:t>
              </a:r>
              <a:endParaRPr lang="ko-KR" altLang="en-US" sz="2000" dirty="0"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26438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0F48361B-2233-4DC2-8755-3F80368AF670}"/>
              </a:ext>
            </a:extLst>
          </p:cNvPr>
          <p:cNvGrpSpPr/>
          <p:nvPr/>
        </p:nvGrpSpPr>
        <p:grpSpPr>
          <a:xfrm>
            <a:off x="629756" y="2810304"/>
            <a:ext cx="11440637" cy="1237391"/>
            <a:chOff x="320040" y="502920"/>
            <a:chExt cx="8412480" cy="1188720"/>
          </a:xfrm>
        </p:grpSpPr>
        <p:sp>
          <p:nvSpPr>
            <p:cNvPr id="3" name="Shape 0">
              <a:extLst>
                <a:ext uri="{FF2B5EF4-FFF2-40B4-BE49-F238E27FC236}">
                  <a16:creationId xmlns:a16="http://schemas.microsoft.com/office/drawing/2014/main" id="{D8BBB767-9358-4779-A5CD-D4A183F5ADE4}"/>
                </a:ext>
              </a:extLst>
            </p:cNvPr>
            <p:cNvSpPr/>
            <p:nvPr/>
          </p:nvSpPr>
          <p:spPr>
            <a:xfrm>
              <a:off x="320040" y="502920"/>
              <a:ext cx="8321040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" name="Text 1">
              <a:extLst>
                <a:ext uri="{FF2B5EF4-FFF2-40B4-BE49-F238E27FC236}">
                  <a16:creationId xmlns:a16="http://schemas.microsoft.com/office/drawing/2014/main" id="{F30D703D-A7C6-4639-B6D4-046A578DA04A}"/>
                </a:ext>
              </a:extLst>
            </p:cNvPr>
            <p:cNvSpPr/>
            <p:nvPr/>
          </p:nvSpPr>
          <p:spPr>
            <a:xfrm>
              <a:off x="411480" y="548639"/>
              <a:ext cx="8321040" cy="11430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altLang="ko-KR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2. </a:t>
              </a: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수행 체크 리스트</a:t>
              </a:r>
              <a:endParaRPr lang="en-US" sz="3400" dirty="0"/>
            </a:p>
          </p:txBody>
        </p:sp>
      </p:grpSp>
    </p:spTree>
    <p:extLst>
      <p:ext uri="{BB962C8B-B14F-4D97-AF65-F5344CB8AC3E}">
        <p14:creationId xmlns:p14="http://schemas.microsoft.com/office/powerpoint/2010/main" val="648512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85801A-2D48-4260-8CED-60E42DC6B0A6}"/>
              </a:ext>
            </a:extLst>
          </p:cNvPr>
          <p:cNvSpPr txBox="1"/>
          <p:nvPr/>
        </p:nvSpPr>
        <p:spPr>
          <a:xfrm>
            <a:off x="459833" y="310391"/>
            <a:ext cx="11508647" cy="60503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+mj-ea"/>
                <a:ea typeface="+mj-ea"/>
              </a:rPr>
              <a:t>[</a:t>
            </a:r>
            <a:r>
              <a:rPr lang="ko-KR" altLang="en-US" sz="2400" dirty="0">
                <a:solidFill>
                  <a:schemeClr val="bg1"/>
                </a:solidFill>
                <a:latin typeface="+mj-ea"/>
                <a:ea typeface="+mj-ea"/>
              </a:rPr>
              <a:t>실습 </a:t>
            </a:r>
            <a:r>
              <a:rPr lang="en-US" altLang="ko-KR" sz="2400" dirty="0">
                <a:solidFill>
                  <a:schemeClr val="bg1"/>
                </a:solidFill>
                <a:latin typeface="+mj-ea"/>
                <a:ea typeface="+mj-ea"/>
              </a:rPr>
              <a:t>1] </a:t>
            </a:r>
            <a:r>
              <a:rPr lang="en-US" altLang="ko-KR" sz="2400" dirty="0" err="1">
                <a:solidFill>
                  <a:schemeClr val="bg1"/>
                </a:solidFill>
                <a:latin typeface="+mj-ea"/>
                <a:ea typeface="+mj-ea"/>
              </a:rPr>
              <a:t>pytest</a:t>
            </a:r>
            <a:r>
              <a:rPr lang="en-US" altLang="ko-KR" sz="2400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ko-KR" altLang="en-US" sz="2400" dirty="0">
                <a:solidFill>
                  <a:schemeClr val="bg1"/>
                </a:solidFill>
                <a:latin typeface="+mj-ea"/>
                <a:ea typeface="+mj-ea"/>
              </a:rPr>
              <a:t>테스트 코드 작성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61416F-701F-49B0-B78D-DDA433E745B8}"/>
              </a:ext>
            </a:extLst>
          </p:cNvPr>
          <p:cNvSpPr txBox="1"/>
          <p:nvPr/>
        </p:nvSpPr>
        <p:spPr>
          <a:xfrm>
            <a:off x="4727033" y="3059668"/>
            <a:ext cx="4884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첨부파일 참조</a:t>
            </a:r>
          </a:p>
        </p:txBody>
      </p:sp>
    </p:spTree>
    <p:extLst>
      <p:ext uri="{BB962C8B-B14F-4D97-AF65-F5344CB8AC3E}">
        <p14:creationId xmlns:p14="http://schemas.microsoft.com/office/powerpoint/2010/main" val="3930678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85801A-2D48-4260-8CED-60E42DC6B0A6}"/>
              </a:ext>
            </a:extLst>
          </p:cNvPr>
          <p:cNvSpPr txBox="1"/>
          <p:nvPr/>
        </p:nvSpPr>
        <p:spPr>
          <a:xfrm>
            <a:off x="459833" y="310391"/>
            <a:ext cx="11508647" cy="60503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+mj-ea"/>
                <a:ea typeface="+mj-ea"/>
              </a:rPr>
              <a:t>[</a:t>
            </a:r>
            <a:r>
              <a:rPr lang="ko-KR" altLang="en-US" sz="2400" dirty="0">
                <a:solidFill>
                  <a:schemeClr val="bg1"/>
                </a:solidFill>
                <a:latin typeface="+mj-ea"/>
                <a:ea typeface="+mj-ea"/>
              </a:rPr>
              <a:t>실습 </a:t>
            </a:r>
            <a:r>
              <a:rPr lang="en-US" altLang="ko-KR" sz="2400" dirty="0">
                <a:solidFill>
                  <a:schemeClr val="bg1"/>
                </a:solidFill>
                <a:latin typeface="+mj-ea"/>
                <a:ea typeface="+mj-ea"/>
              </a:rPr>
              <a:t>1] </a:t>
            </a:r>
            <a:r>
              <a:rPr lang="en-US" altLang="ko-KR" sz="2400" dirty="0" err="1">
                <a:solidFill>
                  <a:schemeClr val="bg1"/>
                </a:solidFill>
                <a:latin typeface="+mj-ea"/>
                <a:ea typeface="+mj-ea"/>
              </a:rPr>
              <a:t>pytest</a:t>
            </a:r>
            <a:r>
              <a:rPr lang="en-US" altLang="ko-KR" sz="2400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ko-KR" altLang="en-US" sz="2400" dirty="0">
                <a:solidFill>
                  <a:schemeClr val="bg1"/>
                </a:solidFill>
                <a:latin typeface="+mj-ea"/>
                <a:ea typeface="+mj-ea"/>
              </a:rPr>
              <a:t>테스트 결과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3865D7E-207D-442D-921A-F2F45B691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86" y="915422"/>
            <a:ext cx="10709627" cy="563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255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85801A-2D48-4260-8CED-60E42DC6B0A6}"/>
              </a:ext>
            </a:extLst>
          </p:cNvPr>
          <p:cNvSpPr txBox="1"/>
          <p:nvPr/>
        </p:nvSpPr>
        <p:spPr>
          <a:xfrm>
            <a:off x="459833" y="310391"/>
            <a:ext cx="11508647" cy="60503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+mj-ea"/>
                <a:ea typeface="+mj-ea"/>
              </a:rPr>
              <a:t>[</a:t>
            </a:r>
            <a:r>
              <a:rPr lang="ko-KR" altLang="en-US" sz="2400" dirty="0">
                <a:solidFill>
                  <a:schemeClr val="bg1"/>
                </a:solidFill>
                <a:latin typeface="+mj-ea"/>
                <a:ea typeface="+mj-ea"/>
              </a:rPr>
              <a:t>실습 </a:t>
            </a:r>
            <a:r>
              <a:rPr lang="en-US" altLang="ko-KR" sz="2400" dirty="0">
                <a:solidFill>
                  <a:schemeClr val="bg1"/>
                </a:solidFill>
                <a:latin typeface="+mj-ea"/>
                <a:ea typeface="+mj-ea"/>
              </a:rPr>
              <a:t>1] </a:t>
            </a:r>
            <a:r>
              <a:rPr lang="en-US" altLang="ko-KR" sz="2400" dirty="0" err="1">
                <a:solidFill>
                  <a:schemeClr val="bg1"/>
                </a:solidFill>
                <a:latin typeface="+mj-ea"/>
                <a:ea typeface="+mj-ea"/>
              </a:rPr>
              <a:t>pytest</a:t>
            </a:r>
            <a:r>
              <a:rPr lang="en-US" altLang="ko-KR" sz="2400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ko-KR" altLang="en-US" sz="2400" dirty="0">
                <a:solidFill>
                  <a:schemeClr val="bg1"/>
                </a:solidFill>
                <a:latin typeface="+mj-ea"/>
                <a:ea typeface="+mj-ea"/>
              </a:rPr>
              <a:t>테스트 결과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AE7D9B8-F177-4415-9739-86C602234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833" y="1053719"/>
            <a:ext cx="10492311" cy="475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698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85801A-2D48-4260-8CED-60E42DC6B0A6}"/>
              </a:ext>
            </a:extLst>
          </p:cNvPr>
          <p:cNvSpPr txBox="1"/>
          <p:nvPr/>
        </p:nvSpPr>
        <p:spPr>
          <a:xfrm>
            <a:off x="459833" y="310391"/>
            <a:ext cx="11508647" cy="60503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+mj-ea"/>
                <a:ea typeface="+mj-ea"/>
              </a:rPr>
              <a:t>[</a:t>
            </a:r>
            <a:r>
              <a:rPr lang="ko-KR" altLang="en-US" sz="2400" dirty="0">
                <a:solidFill>
                  <a:schemeClr val="bg1"/>
                </a:solidFill>
                <a:latin typeface="+mj-ea"/>
                <a:ea typeface="+mj-ea"/>
              </a:rPr>
              <a:t>실습 </a:t>
            </a:r>
            <a:r>
              <a:rPr lang="en-US" altLang="ko-KR" sz="2400" dirty="0">
                <a:solidFill>
                  <a:schemeClr val="bg1"/>
                </a:solidFill>
                <a:latin typeface="+mj-ea"/>
                <a:ea typeface="+mj-ea"/>
              </a:rPr>
              <a:t>1] </a:t>
            </a:r>
            <a:r>
              <a:rPr lang="en-US" altLang="ko-KR" sz="2400" dirty="0" err="1">
                <a:solidFill>
                  <a:schemeClr val="bg1"/>
                </a:solidFill>
                <a:latin typeface="+mj-ea"/>
                <a:ea typeface="+mj-ea"/>
              </a:rPr>
              <a:t>pytest</a:t>
            </a:r>
            <a:r>
              <a:rPr lang="en-US" altLang="ko-KR" sz="2400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ko-KR" altLang="en-US" sz="2400" dirty="0">
                <a:solidFill>
                  <a:schemeClr val="bg1"/>
                </a:solidFill>
                <a:latin typeface="+mj-ea"/>
                <a:ea typeface="+mj-ea"/>
              </a:rPr>
              <a:t>테스트 결과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720BD9D-778B-4DFF-A21D-C5FBA4A64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7844" y="1090568"/>
            <a:ext cx="4600062" cy="531862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8D80992-9562-4457-AA4A-1737C245E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833" y="1090568"/>
            <a:ext cx="5081485" cy="5318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50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F4F3E62-5850-4785-9CCC-054992F39EF1}"/>
              </a:ext>
            </a:extLst>
          </p:cNvPr>
          <p:cNvGrpSpPr/>
          <p:nvPr/>
        </p:nvGrpSpPr>
        <p:grpSpPr>
          <a:xfrm>
            <a:off x="307422" y="339083"/>
            <a:ext cx="11558802" cy="5878837"/>
            <a:chOff x="336919" y="440683"/>
            <a:chExt cx="11558802" cy="587883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1013AB3-C1F1-4485-B17C-D731FE18B281}"/>
                </a:ext>
              </a:extLst>
            </p:cNvPr>
            <p:cNvSpPr txBox="1"/>
            <p:nvPr/>
          </p:nvSpPr>
          <p:spPr>
            <a:xfrm>
              <a:off x="336919" y="440683"/>
              <a:ext cx="11558802" cy="76636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r>
                <a:rPr lang="ko-KR" altLang="en-US" sz="2400" b="1" dirty="0">
                  <a:solidFill>
                    <a:schemeClr val="bg1"/>
                  </a:solidFill>
                </a:rPr>
                <a:t>직접 </a:t>
              </a:r>
              <a:r>
                <a:rPr lang="en-US" altLang="ko-KR" sz="2400" b="1" dirty="0" err="1">
                  <a:solidFill>
                    <a:schemeClr val="bg1"/>
                  </a:solidFill>
                </a:rPr>
                <a:t>pytest</a:t>
              </a:r>
              <a:r>
                <a:rPr lang="ko-KR" altLang="en-US" sz="2400" b="1" dirty="0">
                  <a:solidFill>
                    <a:schemeClr val="bg1"/>
                  </a:solidFill>
                </a:rPr>
                <a:t>를 실행하여 확인한 결과</a:t>
              </a:r>
              <a:endParaRPr lang="ko-KR" altLang="en-US" sz="24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8E29294-A8EA-4191-AF78-511A33EC6465}"/>
                </a:ext>
              </a:extLst>
            </p:cNvPr>
            <p:cNvSpPr txBox="1"/>
            <p:nvPr/>
          </p:nvSpPr>
          <p:spPr>
            <a:xfrm>
              <a:off x="336919" y="1207045"/>
              <a:ext cx="11518162" cy="511247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just">
                <a:lnSpc>
                  <a:spcPct val="200000"/>
                </a:lnSpc>
              </a:pPr>
              <a:r>
                <a:rPr lang="en-US" altLang="ko-KR" sz="2400" dirty="0" err="1"/>
                <a:t>FastAPI</a:t>
              </a:r>
              <a:r>
                <a:rPr lang="ko-KR" altLang="en-US" sz="2400" dirty="0"/>
                <a:t>의 </a:t>
              </a:r>
              <a:r>
                <a:rPr lang="en-US" altLang="ko-KR" sz="2400" dirty="0" err="1"/>
                <a:t>TestClient</a:t>
              </a:r>
              <a:r>
                <a:rPr lang="ko-KR" altLang="en-US" sz="2400" dirty="0"/>
                <a:t>와 </a:t>
              </a:r>
              <a:r>
                <a:rPr lang="en-US" altLang="ko-KR" sz="2400" dirty="0" err="1"/>
                <a:t>pytest</a:t>
              </a:r>
              <a:r>
                <a:rPr lang="ko-KR" altLang="en-US" sz="2400" dirty="0"/>
                <a:t>를 이용하여 도서 검색</a:t>
              </a:r>
              <a:r>
                <a:rPr lang="en-US" altLang="ko-KR" sz="2400" dirty="0"/>
                <a:t>, </a:t>
              </a:r>
              <a:r>
                <a:rPr lang="ko-KR" altLang="en-US" sz="2400" dirty="0"/>
                <a:t>중복 </a:t>
              </a:r>
              <a:r>
                <a:rPr lang="en-US" altLang="ko-KR" sz="2400" dirty="0"/>
                <a:t>ISBN </a:t>
              </a:r>
              <a:r>
                <a:rPr lang="ko-KR" altLang="en-US" sz="2400" dirty="0"/>
                <a:t>및 비밀번호 검증 기능을 테스트하였다</a:t>
              </a:r>
              <a:r>
                <a:rPr lang="en-US" altLang="ko-KR" sz="2400" dirty="0"/>
                <a:t>. </a:t>
              </a:r>
              <a:r>
                <a:rPr lang="ko-KR" altLang="en-US" sz="2400" dirty="0"/>
                <a:t>정상 검색과 빈 검색어에 대해 각각 </a:t>
              </a:r>
              <a:r>
                <a:rPr lang="en-US" altLang="ko-KR" sz="2400" dirty="0"/>
                <a:t>200</a:t>
              </a:r>
              <a:r>
                <a:rPr lang="ko-KR" altLang="en-US" sz="2400" dirty="0"/>
                <a:t>과 </a:t>
              </a:r>
              <a:r>
                <a:rPr lang="en-US" altLang="ko-KR" sz="2400" dirty="0"/>
                <a:t>400 </a:t>
              </a:r>
              <a:r>
                <a:rPr lang="ko-KR" altLang="en-US" sz="2400" dirty="0"/>
                <a:t>상태 코드가 반환되는 것을 확인하였다</a:t>
              </a:r>
              <a:r>
                <a:rPr lang="en-US" altLang="ko-KR" sz="2400" dirty="0"/>
                <a:t>. </a:t>
              </a:r>
            </a:p>
            <a:p>
              <a:pPr algn="just">
                <a:lnSpc>
                  <a:spcPct val="200000"/>
                </a:lnSpc>
              </a:pPr>
              <a:r>
                <a:rPr lang="ko-KR" altLang="en-US" sz="2400" dirty="0"/>
                <a:t>또한 중복 </a:t>
              </a:r>
              <a:r>
                <a:rPr lang="en-US" altLang="ko-KR" sz="2400" dirty="0"/>
                <a:t>ISBN</a:t>
              </a:r>
              <a:r>
                <a:rPr lang="ko-KR" altLang="en-US" sz="2400" dirty="0"/>
                <a:t>은 </a:t>
              </a:r>
              <a:r>
                <a:rPr lang="en-US" altLang="ko-KR" sz="2400" dirty="0"/>
                <a:t>409</a:t>
              </a:r>
              <a:r>
                <a:rPr lang="ko-KR" altLang="en-US" sz="2400" dirty="0"/>
                <a:t>를 반환하였으며 비밀번호의 </a:t>
              </a:r>
              <a:r>
                <a:rPr lang="ko-KR" altLang="en-US" sz="2400" dirty="0" err="1"/>
                <a:t>정상값</a:t>
              </a:r>
              <a:r>
                <a:rPr lang="en-US" altLang="ko-KR" sz="2400" dirty="0"/>
                <a:t>, </a:t>
              </a:r>
              <a:r>
                <a:rPr lang="ko-KR" altLang="en-US" sz="2400" dirty="0" err="1"/>
                <a:t>경계값</a:t>
              </a:r>
              <a:r>
                <a:rPr lang="en-US" altLang="ko-KR" sz="2400" dirty="0"/>
                <a:t>, </a:t>
              </a:r>
              <a:r>
                <a:rPr lang="ko-KR" altLang="en-US" sz="2400" dirty="0" err="1"/>
                <a:t>예외값</a:t>
              </a:r>
              <a:r>
                <a:rPr lang="ko-KR" altLang="en-US" sz="2400" dirty="0"/>
                <a:t> 테스트도 모두 기대 결과와 일치하였다</a:t>
              </a:r>
              <a:r>
                <a:rPr lang="en-US" altLang="ko-KR" sz="2400" dirty="0"/>
                <a:t>. </a:t>
              </a:r>
            </a:p>
            <a:p>
              <a:pPr algn="just">
                <a:lnSpc>
                  <a:spcPct val="200000"/>
                </a:lnSpc>
              </a:pPr>
              <a:r>
                <a:rPr lang="ko-KR" altLang="en-US" sz="2400" dirty="0"/>
                <a:t>총 </a:t>
              </a:r>
              <a:r>
                <a:rPr lang="en-US" altLang="ko-KR" sz="2400" dirty="0"/>
                <a:t>6</a:t>
              </a:r>
              <a:r>
                <a:rPr lang="ko-KR" altLang="en-US" sz="2400" dirty="0"/>
                <a:t>개의 테스트를 수행한 결과 모두 </a:t>
              </a:r>
              <a:r>
                <a:rPr lang="en-US" altLang="ko-KR" sz="2400" dirty="0"/>
                <a:t>PASSED</a:t>
              </a:r>
              <a:r>
                <a:rPr lang="ko-KR" altLang="en-US" sz="2400" dirty="0"/>
                <a:t>로 확인되었다</a:t>
              </a:r>
              <a:r>
                <a:rPr lang="en-US" altLang="ko-KR" sz="2400" dirty="0"/>
                <a:t>.</a:t>
              </a:r>
              <a:endParaRPr lang="ko-KR" altLang="en-US" sz="2400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7381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55BC45-C99E-4CFB-932C-3645EEEF4846}"/>
              </a:ext>
            </a:extLst>
          </p:cNvPr>
          <p:cNvSpPr txBox="1"/>
          <p:nvPr/>
        </p:nvSpPr>
        <p:spPr>
          <a:xfrm>
            <a:off x="459833" y="310391"/>
            <a:ext cx="11508647" cy="60503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+mj-ea"/>
                <a:ea typeface="+mj-ea"/>
              </a:rPr>
              <a:t>[</a:t>
            </a:r>
            <a:r>
              <a:rPr lang="ko-KR" altLang="en-US" sz="2400" dirty="0">
                <a:solidFill>
                  <a:schemeClr val="bg1"/>
                </a:solidFill>
                <a:latin typeface="+mj-ea"/>
                <a:ea typeface="+mj-ea"/>
              </a:rPr>
              <a:t>실습 </a:t>
            </a:r>
            <a:r>
              <a:rPr lang="en-US" altLang="ko-KR" sz="2400" dirty="0">
                <a:solidFill>
                  <a:schemeClr val="bg1"/>
                </a:solidFill>
                <a:latin typeface="+mj-ea"/>
                <a:ea typeface="+mj-ea"/>
              </a:rPr>
              <a:t>2] </a:t>
            </a:r>
            <a:r>
              <a:rPr lang="ko-KR" altLang="en-US" sz="2400" dirty="0">
                <a:solidFill>
                  <a:schemeClr val="bg1"/>
                </a:solidFill>
                <a:latin typeface="+mj-ea"/>
                <a:ea typeface="+mj-ea"/>
              </a:rPr>
              <a:t>결함보고서 작성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8F0B2BC-04BC-4324-86BF-4A0BDBD346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16270"/>
              </p:ext>
            </p:extLst>
          </p:nvPr>
        </p:nvGraphicFramePr>
        <p:xfrm>
          <a:off x="459832" y="915422"/>
          <a:ext cx="11508647" cy="5632187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222408">
                  <a:extLst>
                    <a:ext uri="{9D8B030D-6E8A-4147-A177-3AD203B41FA5}">
                      <a16:colId xmlns:a16="http://schemas.microsoft.com/office/drawing/2014/main" val="2315621107"/>
                    </a:ext>
                  </a:extLst>
                </a:gridCol>
                <a:gridCol w="9286239">
                  <a:extLst>
                    <a:ext uri="{9D8B030D-6E8A-4147-A177-3AD203B41FA5}">
                      <a16:colId xmlns:a16="http://schemas.microsoft.com/office/drawing/2014/main" val="234177384"/>
                    </a:ext>
                  </a:extLst>
                </a:gridCol>
              </a:tblGrid>
              <a:tr h="47480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800" dirty="0"/>
                        <a:t>항목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800" dirty="0"/>
                        <a:t>작성 내용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818561725"/>
                  </a:ext>
                </a:extLst>
              </a:tr>
              <a:tr h="47527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800" b="1" dirty="0"/>
                        <a:t>결함 </a:t>
                      </a:r>
                      <a:r>
                        <a:rPr lang="en-US" sz="1800" b="1" dirty="0"/>
                        <a:t>ID</a:t>
                      </a:r>
                      <a:endParaRPr lang="en-US" sz="1800" dirty="0">
                        <a:latin typeface="+mn-ea"/>
                        <a:ea typeface="+mn-ea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/>
                        <a:t>BUG-001</a:t>
                      </a:r>
                      <a:endParaRPr lang="en-US" sz="1800">
                        <a:latin typeface="+mn-ea"/>
                        <a:ea typeface="+mn-ea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1144036518"/>
                  </a:ext>
                </a:extLst>
              </a:tr>
              <a:tr h="5482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800" b="1" dirty="0"/>
                        <a:t>결함 제목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800" dirty="0"/>
                        <a:t>중복 </a:t>
                      </a:r>
                      <a:r>
                        <a:rPr lang="en-US" altLang="ko-KR" sz="1800" dirty="0"/>
                        <a:t>ISBN </a:t>
                      </a:r>
                      <a:r>
                        <a:rPr lang="ko-KR" altLang="en-US" sz="1800" dirty="0"/>
                        <a:t>도서 등록 시 </a:t>
                      </a:r>
                      <a:r>
                        <a:rPr lang="en-US" altLang="ko-KR" sz="1800" dirty="0"/>
                        <a:t>409 </a:t>
                      </a:r>
                      <a:r>
                        <a:rPr lang="ko-KR" altLang="en-US" sz="1800" dirty="0"/>
                        <a:t>대신 </a:t>
                      </a:r>
                      <a:r>
                        <a:rPr lang="en-US" altLang="ko-KR" sz="1800" dirty="0"/>
                        <a:t>500 </a:t>
                      </a:r>
                      <a:r>
                        <a:rPr lang="ko-KR" altLang="en-US" sz="1800" dirty="0"/>
                        <a:t>오류 발생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226869582"/>
                  </a:ext>
                </a:extLst>
              </a:tr>
              <a:tr h="155233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800" b="1" dirty="0"/>
                        <a:t>재현 절차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800" dirty="0"/>
                        <a:t>① 도서 등록 </a:t>
                      </a:r>
                      <a:r>
                        <a:rPr lang="en-US" altLang="ko-KR" sz="1800" dirty="0"/>
                        <a:t>API</a:t>
                      </a:r>
                      <a:r>
                        <a:rPr lang="ko-KR" altLang="en-US" sz="1800" dirty="0"/>
                        <a:t>를 이용하여 </a:t>
                      </a:r>
                      <a:r>
                        <a:rPr lang="en-US" altLang="ko-KR" sz="1800" dirty="0"/>
                        <a:t>ISBN 9781234567890</a:t>
                      </a:r>
                      <a:r>
                        <a:rPr lang="ko-KR" altLang="en-US" sz="1800" dirty="0"/>
                        <a:t>인 도서를 정상 등록한다</a:t>
                      </a:r>
                      <a:r>
                        <a:rPr lang="en-US" altLang="ko-KR" sz="1800" dirty="0"/>
                        <a:t>.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800" dirty="0"/>
                        <a:t>② </a:t>
                      </a:r>
                      <a:r>
                        <a:rPr lang="ko-KR" altLang="en-US" sz="1800" dirty="0"/>
                        <a:t>동일한 </a:t>
                      </a:r>
                      <a:r>
                        <a:rPr lang="en-US" altLang="ko-KR" sz="1800" dirty="0"/>
                        <a:t>ISBN 9781234567890</a:t>
                      </a:r>
                      <a:r>
                        <a:rPr lang="ko-KR" altLang="en-US" sz="1800" dirty="0"/>
                        <a:t>을 사용하여 새로운 도서 등록 요청을 다시 전송한다</a:t>
                      </a:r>
                      <a:r>
                        <a:rPr lang="en-US" altLang="ko-KR" sz="1800" dirty="0"/>
                        <a:t>.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800" dirty="0"/>
                        <a:t>③ </a:t>
                      </a:r>
                      <a:r>
                        <a:rPr lang="ko-KR" altLang="en-US" sz="1800" dirty="0"/>
                        <a:t>서버의 </a:t>
                      </a:r>
                      <a:r>
                        <a:rPr lang="en-US" altLang="ko-KR" sz="1800" dirty="0"/>
                        <a:t>HTTP </a:t>
                      </a:r>
                      <a:r>
                        <a:rPr lang="ko-KR" altLang="en-US" sz="1800" dirty="0"/>
                        <a:t>상태 코드와 응답 메시지를 확인한다</a:t>
                      </a:r>
                      <a:r>
                        <a:rPr lang="en-US" altLang="ko-KR" sz="1800" dirty="0"/>
                        <a:t>.</a:t>
                      </a:r>
                      <a:endParaRPr lang="en-US" altLang="ko-KR" sz="1800" dirty="0">
                        <a:latin typeface="+mn-ea"/>
                        <a:ea typeface="+mn-ea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3690533487"/>
                  </a:ext>
                </a:extLst>
              </a:tr>
              <a:tr h="6791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800" b="1" dirty="0"/>
                        <a:t>기대 결과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800" dirty="0"/>
                        <a:t>서버는 </a:t>
                      </a:r>
                      <a:r>
                        <a:rPr lang="en-US" altLang="ko-KR" sz="1800" dirty="0"/>
                        <a:t>409 Conflict</a:t>
                      </a:r>
                      <a:r>
                        <a:rPr lang="ko-KR" altLang="en-US" sz="1800" dirty="0"/>
                        <a:t>를 반환하고 </a:t>
                      </a:r>
                      <a:r>
                        <a:rPr lang="en-US" altLang="ko-KR" sz="1800" dirty="0"/>
                        <a:t>"</a:t>
                      </a:r>
                      <a:r>
                        <a:rPr lang="ko-KR" altLang="en-US" sz="1800" dirty="0"/>
                        <a:t>이미 등록된 </a:t>
                      </a:r>
                      <a:r>
                        <a:rPr lang="en-US" altLang="ko-KR" sz="1800" dirty="0"/>
                        <a:t>ISBN</a:t>
                      </a:r>
                      <a:r>
                        <a:rPr lang="ko-KR" altLang="en-US" sz="1800" dirty="0"/>
                        <a:t>입니다</a:t>
                      </a:r>
                      <a:r>
                        <a:rPr lang="en-US" altLang="ko-KR" sz="1800" dirty="0"/>
                        <a:t>"</a:t>
                      </a:r>
                      <a:r>
                        <a:rPr lang="ko-KR" altLang="en-US" sz="1800" dirty="0"/>
                        <a:t>라는 메시지를 반환해야 한다</a:t>
                      </a:r>
                      <a:r>
                        <a:rPr lang="en-US" altLang="ko-KR" sz="1800" dirty="0"/>
                        <a:t>.</a:t>
                      </a:r>
                      <a:endParaRPr lang="en-US" altLang="ko-KR" sz="1800" dirty="0">
                        <a:latin typeface="+mn-ea"/>
                        <a:ea typeface="+mn-ea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396043571"/>
                  </a:ext>
                </a:extLst>
              </a:tr>
              <a:tr h="97020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800" b="1" dirty="0"/>
                        <a:t>실제 결과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800" dirty="0"/>
                        <a:t>서버에서 </a:t>
                      </a:r>
                      <a:r>
                        <a:rPr lang="en-US" altLang="ko-KR" sz="1800" dirty="0"/>
                        <a:t>500 Internal Server Error</a:t>
                      </a:r>
                      <a:r>
                        <a:rPr lang="ko-KR" altLang="en-US" sz="1800" dirty="0"/>
                        <a:t>가 반환되고 사용자가 중복 </a:t>
                      </a:r>
                      <a:r>
                        <a:rPr lang="en-US" altLang="ko-KR" sz="1800" dirty="0"/>
                        <a:t>ISBN</a:t>
                      </a:r>
                      <a:r>
                        <a:rPr lang="ko-KR" altLang="en-US" sz="1800" dirty="0"/>
                        <a:t>이라는 정확한 원인을 확인할 수 없다</a:t>
                      </a:r>
                      <a:r>
                        <a:rPr lang="en-US" altLang="ko-KR" sz="1800" dirty="0"/>
                        <a:t>.</a:t>
                      </a:r>
                      <a:endParaRPr lang="en-US" altLang="ko-KR" sz="1800" dirty="0">
                        <a:latin typeface="+mn-ea"/>
                        <a:ea typeface="+mn-ea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500724733"/>
                  </a:ext>
                </a:extLst>
              </a:tr>
              <a:tr h="46607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800" b="1" dirty="0"/>
                        <a:t>심각도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800" b="1" dirty="0"/>
                        <a:t>중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3227063231"/>
                  </a:ext>
                </a:extLst>
              </a:tr>
              <a:tr h="46607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800" b="1" dirty="0"/>
                        <a:t>우선순위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800" b="1" dirty="0"/>
                        <a:t>상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3867547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1358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F4F3E62-5850-4785-9CCC-054992F39EF1}"/>
              </a:ext>
            </a:extLst>
          </p:cNvPr>
          <p:cNvGrpSpPr/>
          <p:nvPr/>
        </p:nvGrpSpPr>
        <p:grpSpPr>
          <a:xfrm>
            <a:off x="307422" y="339083"/>
            <a:ext cx="11558802" cy="4192277"/>
            <a:chOff x="336919" y="440683"/>
            <a:chExt cx="11558802" cy="419227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1013AB3-C1F1-4485-B17C-D731FE18B281}"/>
                </a:ext>
              </a:extLst>
            </p:cNvPr>
            <p:cNvSpPr txBox="1"/>
            <p:nvPr/>
          </p:nvSpPr>
          <p:spPr>
            <a:xfrm>
              <a:off x="336919" y="440683"/>
              <a:ext cx="11558802" cy="76636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r>
                <a:rPr lang="ko-KR" altLang="en-US" sz="2400" b="1" dirty="0">
                  <a:solidFill>
                    <a:schemeClr val="bg1"/>
                  </a:solidFill>
                </a:rPr>
                <a:t>심각도와 우선순위 선정 이유</a:t>
              </a:r>
              <a:endParaRPr lang="ko-KR" altLang="en-US" sz="24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8E29294-A8EA-4191-AF78-511A33EC6465}"/>
                </a:ext>
              </a:extLst>
            </p:cNvPr>
            <p:cNvSpPr txBox="1"/>
            <p:nvPr/>
          </p:nvSpPr>
          <p:spPr>
            <a:xfrm>
              <a:off x="336919" y="1207045"/>
              <a:ext cx="11518162" cy="342591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just">
                <a:lnSpc>
                  <a:spcPct val="200000"/>
                </a:lnSpc>
              </a:pPr>
              <a:r>
                <a:rPr lang="ko-KR" altLang="en-US" sz="2400" dirty="0">
                  <a:latin typeface="+mn-ea"/>
                </a:rPr>
                <a:t>이 결함은 전체 서비스가 중단되는 문제는 아니므로 심각도는 </a:t>
              </a:r>
              <a:r>
                <a:rPr lang="ko-KR" altLang="en-US" sz="2400" b="1" dirty="0">
                  <a:latin typeface="+mn-ea"/>
                </a:rPr>
                <a:t>중</a:t>
              </a:r>
              <a:r>
                <a:rPr lang="ko-KR" altLang="en-US" sz="2400" dirty="0">
                  <a:latin typeface="+mn-ea"/>
                </a:rPr>
                <a:t>으로 판단하였다</a:t>
              </a:r>
              <a:r>
                <a:rPr lang="en-US" altLang="ko-KR" sz="2400" dirty="0">
                  <a:latin typeface="+mn-ea"/>
                </a:rPr>
                <a:t>. </a:t>
              </a:r>
              <a:r>
                <a:rPr lang="ko-KR" altLang="en-US" sz="2400" dirty="0">
                  <a:latin typeface="+mn-ea"/>
                </a:rPr>
                <a:t>하지만 사용자가 동일한 </a:t>
              </a:r>
              <a:r>
                <a:rPr lang="en-US" altLang="ko-KR" sz="2400" dirty="0">
                  <a:latin typeface="+mn-ea"/>
                </a:rPr>
                <a:t>ISBN</a:t>
              </a:r>
              <a:r>
                <a:rPr lang="ko-KR" altLang="en-US" sz="2400" dirty="0">
                  <a:latin typeface="+mn-ea"/>
                </a:rPr>
                <a:t>을 실수로 다시 입력할 가능성이 있으며</a:t>
              </a:r>
              <a:r>
                <a:rPr lang="en-US" altLang="ko-KR" sz="2400" dirty="0">
                  <a:latin typeface="+mn-ea"/>
                </a:rPr>
                <a:t>, </a:t>
              </a:r>
              <a:r>
                <a:rPr lang="ko-KR" altLang="en-US" sz="2400" dirty="0">
                  <a:latin typeface="+mn-ea"/>
                </a:rPr>
                <a:t>정상적인 예외 처리가 되지 않고 서버 오류가 발생하므로 빠른 수정이 필요하다</a:t>
              </a:r>
              <a:r>
                <a:rPr lang="en-US" altLang="ko-KR" sz="2400" dirty="0">
                  <a:latin typeface="+mn-ea"/>
                </a:rPr>
                <a:t>. </a:t>
              </a:r>
              <a:r>
                <a:rPr lang="ko-KR" altLang="en-US" sz="2400" dirty="0">
                  <a:latin typeface="+mn-ea"/>
                </a:rPr>
                <a:t>따라서 사용자 경험과 시스템 안정성을 고려하여 우선순위는 </a:t>
              </a:r>
              <a:r>
                <a:rPr lang="ko-KR" altLang="en-US" sz="2400" b="1" dirty="0">
                  <a:latin typeface="+mn-ea"/>
                </a:rPr>
                <a:t>상</a:t>
              </a:r>
              <a:r>
                <a:rPr lang="ko-KR" altLang="en-US" sz="2400" dirty="0">
                  <a:latin typeface="+mn-ea"/>
                </a:rPr>
                <a:t>으로 설정하였다</a:t>
              </a:r>
              <a:r>
                <a:rPr lang="en-US" altLang="ko-KR" sz="2400" dirty="0">
                  <a:latin typeface="+mn-ea"/>
                </a:rPr>
                <a:t>.</a:t>
              </a:r>
              <a:endParaRPr lang="ko-KR" altLang="en-US" sz="2400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63922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59B696-9ADD-4D3A-B368-9046F0D1E2B7}"/>
              </a:ext>
            </a:extLst>
          </p:cNvPr>
          <p:cNvSpPr txBox="1"/>
          <p:nvPr/>
        </p:nvSpPr>
        <p:spPr>
          <a:xfrm>
            <a:off x="459833" y="310391"/>
            <a:ext cx="11447687" cy="60503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+mj-ea"/>
                <a:ea typeface="+mj-ea"/>
              </a:rPr>
              <a:t>[</a:t>
            </a:r>
            <a:r>
              <a:rPr lang="ko-KR" altLang="en-US" sz="2400" dirty="0">
                <a:solidFill>
                  <a:schemeClr val="bg1"/>
                </a:solidFill>
                <a:latin typeface="+mj-ea"/>
                <a:ea typeface="+mj-ea"/>
              </a:rPr>
              <a:t>실습 </a:t>
            </a:r>
            <a:r>
              <a:rPr lang="en-US" altLang="ko-KR" sz="2400" dirty="0">
                <a:solidFill>
                  <a:schemeClr val="bg1"/>
                </a:solidFill>
                <a:latin typeface="+mj-ea"/>
                <a:ea typeface="+mj-ea"/>
              </a:rPr>
              <a:t>3] </a:t>
            </a:r>
            <a:r>
              <a:rPr lang="ko-KR" altLang="en-US" sz="2400" dirty="0">
                <a:solidFill>
                  <a:schemeClr val="bg1"/>
                </a:solidFill>
                <a:latin typeface="+mj-ea"/>
                <a:ea typeface="+mj-ea"/>
              </a:rPr>
              <a:t>테스트 케이스 설계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048D8E9-2830-4A8E-B002-1B58616DF1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836178"/>
              </p:ext>
            </p:extLst>
          </p:nvPr>
        </p:nvGraphicFramePr>
        <p:xfrm>
          <a:off x="459833" y="915421"/>
          <a:ext cx="11447685" cy="5632187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714407">
                  <a:extLst>
                    <a:ext uri="{9D8B030D-6E8A-4147-A177-3AD203B41FA5}">
                      <a16:colId xmlns:a16="http://schemas.microsoft.com/office/drawing/2014/main" val="3864364293"/>
                    </a:ext>
                  </a:extLst>
                </a:gridCol>
                <a:gridCol w="2418080">
                  <a:extLst>
                    <a:ext uri="{9D8B030D-6E8A-4147-A177-3AD203B41FA5}">
                      <a16:colId xmlns:a16="http://schemas.microsoft.com/office/drawing/2014/main" val="2498381499"/>
                    </a:ext>
                  </a:extLst>
                </a:gridCol>
                <a:gridCol w="3129280">
                  <a:extLst>
                    <a:ext uri="{9D8B030D-6E8A-4147-A177-3AD203B41FA5}">
                      <a16:colId xmlns:a16="http://schemas.microsoft.com/office/drawing/2014/main" val="10594513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435893641"/>
                    </a:ext>
                  </a:extLst>
                </a:gridCol>
                <a:gridCol w="1442718">
                  <a:extLst>
                    <a:ext uri="{9D8B030D-6E8A-4147-A177-3AD203B41FA5}">
                      <a16:colId xmlns:a16="http://schemas.microsoft.com/office/drawing/2014/main" val="3738363005"/>
                    </a:ext>
                  </a:extLst>
                </a:gridCol>
              </a:tblGrid>
              <a:tr h="662610">
                <a:tc>
                  <a:txBody>
                    <a:bodyPr/>
                    <a:lstStyle/>
                    <a:p>
                      <a:pPr algn="ctr"/>
                      <a:r>
                        <a:rPr lang="ko-KR" altLang="en-US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/>
                        <a:t>입력값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/>
                        <a:t>기대 결과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/>
                        <a:t>실제 결과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Pass/Fail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9594013"/>
                  </a:ext>
                </a:extLst>
              </a:tr>
              <a:tr h="1159568">
                <a:tc>
                  <a:txBody>
                    <a:bodyPr/>
                    <a:lstStyle/>
                    <a:p>
                      <a:pPr algn="ctr"/>
                      <a:r>
                        <a:rPr lang="en-US" altLang="ko-KR" b="1"/>
                        <a:t>1. </a:t>
                      </a:r>
                      <a:r>
                        <a:rPr lang="ko-KR" altLang="en-US" b="1"/>
                        <a:t>정상값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password123 (11</a:t>
                      </a:r>
                      <a:r>
                        <a:rPr lang="ko-KR" altLang="en-US"/>
                        <a:t>자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/>
                        <a:t>회원가입 정상 처리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/>
                        <a:t>회원가입 정상 처리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1840835"/>
                  </a:ext>
                </a:extLst>
              </a:tr>
              <a:tr h="1656526">
                <a:tc>
                  <a:txBody>
                    <a:bodyPr/>
                    <a:lstStyle/>
                    <a:p>
                      <a:pPr algn="ctr"/>
                      <a:r>
                        <a:rPr lang="en-US" altLang="ko-KR" b="1"/>
                        <a:t>2. </a:t>
                      </a:r>
                      <a:r>
                        <a:rPr lang="ko-KR" altLang="en-US" b="1"/>
                        <a:t>경계값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abcd1234 (8</a:t>
                      </a:r>
                      <a:r>
                        <a:rPr lang="ko-KR" altLang="en-US"/>
                        <a:t>자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n-US" altLang="ko-KR" dirty="0"/>
                        <a:t>8</a:t>
                      </a:r>
                      <a:r>
                        <a:rPr lang="ko-KR" altLang="en-US" dirty="0"/>
                        <a:t>자 이상이므로 회원가입 정상 처리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ko-KR" altLang="en-US"/>
                        <a:t>회원가입 정상 처리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8167477"/>
                  </a:ext>
                </a:extLst>
              </a:tr>
              <a:tr h="2153483">
                <a:tc>
                  <a:txBody>
                    <a:bodyPr/>
                    <a:lstStyle/>
                    <a:p>
                      <a:pPr algn="ctr"/>
                      <a:r>
                        <a:rPr lang="en-US" altLang="ko-KR" b="1" dirty="0"/>
                        <a:t>3. </a:t>
                      </a:r>
                      <a:r>
                        <a:rPr lang="ko-KR" altLang="en-US" b="1" dirty="0" err="1"/>
                        <a:t>예외값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abc1234 (7</a:t>
                      </a:r>
                      <a:r>
                        <a:rPr lang="ko-KR" altLang="en-US"/>
                        <a:t>자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n-US" altLang="ko-KR" dirty="0"/>
                        <a:t>"</a:t>
                      </a:r>
                      <a:r>
                        <a:rPr lang="ko-KR" altLang="en-US" dirty="0"/>
                        <a:t>비밀번호는 </a:t>
                      </a:r>
                      <a:r>
                        <a:rPr lang="en-US" altLang="ko-KR" dirty="0"/>
                        <a:t>8</a:t>
                      </a:r>
                      <a:r>
                        <a:rPr lang="ko-KR" altLang="en-US" dirty="0"/>
                        <a:t>자 이상이어야 합니다</a:t>
                      </a:r>
                      <a:r>
                        <a:rPr lang="en-US" altLang="ko-KR" dirty="0"/>
                        <a:t>" </a:t>
                      </a:r>
                      <a:r>
                        <a:rPr lang="ko-KR" altLang="en-US" dirty="0"/>
                        <a:t>오류 메시지 반환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n-US" altLang="ko-KR" dirty="0"/>
                        <a:t>"</a:t>
                      </a:r>
                      <a:r>
                        <a:rPr lang="ko-KR" altLang="en-US" dirty="0"/>
                        <a:t>비밀번호는 </a:t>
                      </a:r>
                      <a:r>
                        <a:rPr lang="en-US" altLang="ko-KR" dirty="0"/>
                        <a:t>8</a:t>
                      </a:r>
                      <a:r>
                        <a:rPr lang="ko-KR" altLang="en-US" dirty="0"/>
                        <a:t>자 이상 이어야 합니다</a:t>
                      </a:r>
                      <a:r>
                        <a:rPr lang="en-US" altLang="ko-KR" dirty="0"/>
                        <a:t>" </a:t>
                      </a:r>
                      <a:r>
                        <a:rPr lang="ko-KR" altLang="en-US" dirty="0"/>
                        <a:t>반환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4603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66388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F4F3E62-5850-4785-9CCC-054992F39EF1}"/>
              </a:ext>
            </a:extLst>
          </p:cNvPr>
          <p:cNvGrpSpPr/>
          <p:nvPr/>
        </p:nvGrpSpPr>
        <p:grpSpPr>
          <a:xfrm>
            <a:off x="307422" y="339083"/>
            <a:ext cx="11558802" cy="2647957"/>
            <a:chOff x="336919" y="440683"/>
            <a:chExt cx="11558802" cy="264795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1013AB3-C1F1-4485-B17C-D731FE18B281}"/>
                </a:ext>
              </a:extLst>
            </p:cNvPr>
            <p:cNvSpPr txBox="1"/>
            <p:nvPr/>
          </p:nvSpPr>
          <p:spPr>
            <a:xfrm>
              <a:off x="336919" y="440683"/>
              <a:ext cx="11558802" cy="76636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r>
                <a:rPr lang="ko-KR" altLang="en-US" sz="2400" b="1" dirty="0">
                  <a:solidFill>
                    <a:schemeClr val="bg1"/>
                  </a:solidFill>
                </a:rPr>
                <a:t>테스트 케이스 설명</a:t>
              </a:r>
              <a:endParaRPr lang="ko-KR" altLang="en-US" sz="24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8E29294-A8EA-4191-AF78-511A33EC6465}"/>
                </a:ext>
              </a:extLst>
            </p:cNvPr>
            <p:cNvSpPr txBox="1"/>
            <p:nvPr/>
          </p:nvSpPr>
          <p:spPr>
            <a:xfrm>
              <a:off x="336919" y="1207045"/>
              <a:ext cx="11518162" cy="18815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2400" dirty="0" err="1">
                  <a:latin typeface="+mn-ea"/>
                </a:rPr>
                <a:t>정상값은</a:t>
              </a:r>
              <a:r>
                <a:rPr lang="ko-KR" altLang="en-US" sz="2400" dirty="0">
                  <a:latin typeface="+mn-ea"/>
                </a:rPr>
                <a:t> 비밀번호 길이가 </a:t>
              </a:r>
              <a:r>
                <a:rPr lang="en-US" altLang="ko-KR" sz="2400" dirty="0">
                  <a:latin typeface="+mn-ea"/>
                </a:rPr>
                <a:t>8</a:t>
              </a:r>
              <a:r>
                <a:rPr lang="ko-KR" altLang="en-US" sz="2400" dirty="0">
                  <a:latin typeface="+mn-ea"/>
                </a:rPr>
                <a:t>자를 초과하는 경우 정상적으로 </a:t>
              </a:r>
              <a:r>
                <a:rPr lang="ko-KR" altLang="en-US" sz="2400" dirty="0" err="1">
                  <a:latin typeface="+mn-ea"/>
                </a:rPr>
                <a:t>회원가입되는지</a:t>
              </a:r>
              <a:r>
                <a:rPr lang="ko-KR" altLang="en-US" sz="2400" dirty="0">
                  <a:latin typeface="+mn-ea"/>
                </a:rPr>
                <a:t> 확인한다</a:t>
              </a:r>
              <a:r>
                <a:rPr lang="en-US" altLang="ko-KR" sz="2400" dirty="0">
                  <a:latin typeface="+mn-ea"/>
                </a:rPr>
                <a:t>. </a:t>
              </a:r>
              <a:r>
                <a:rPr lang="ko-KR" altLang="en-US" sz="2400" dirty="0" err="1">
                  <a:latin typeface="+mn-ea"/>
                </a:rPr>
                <a:t>경계값은</a:t>
              </a:r>
              <a:r>
                <a:rPr lang="ko-KR" altLang="en-US" sz="2400" dirty="0">
                  <a:latin typeface="+mn-ea"/>
                </a:rPr>
                <a:t> 요구사항의 최소 허용 길이인 </a:t>
              </a:r>
              <a:r>
                <a:rPr lang="ko-KR" altLang="en-US" sz="2400" b="1" dirty="0">
                  <a:latin typeface="+mn-ea"/>
                </a:rPr>
                <a:t>정확히 </a:t>
              </a:r>
              <a:r>
                <a:rPr lang="en-US" altLang="ko-KR" sz="2400" b="1" dirty="0">
                  <a:latin typeface="+mn-ea"/>
                </a:rPr>
                <a:t>8</a:t>
              </a:r>
              <a:r>
                <a:rPr lang="ko-KR" altLang="en-US" sz="2400" b="1" dirty="0">
                  <a:latin typeface="+mn-ea"/>
                </a:rPr>
                <a:t>자</a:t>
              </a:r>
              <a:r>
                <a:rPr lang="ko-KR" altLang="en-US" sz="2400" dirty="0">
                  <a:latin typeface="+mn-ea"/>
                </a:rPr>
                <a:t>를 입력하여 정상 처리되는지 확인한다</a:t>
              </a:r>
              <a:r>
                <a:rPr lang="en-US" altLang="ko-KR" sz="2400" dirty="0">
                  <a:latin typeface="+mn-ea"/>
                </a:rPr>
                <a:t>. </a:t>
              </a:r>
              <a:r>
                <a:rPr lang="ko-KR" altLang="en-US" sz="2400" dirty="0" err="1">
                  <a:latin typeface="+mn-ea"/>
                </a:rPr>
                <a:t>예외값은</a:t>
              </a:r>
              <a:r>
                <a:rPr lang="ko-KR" altLang="en-US" sz="2400" dirty="0">
                  <a:latin typeface="+mn-ea"/>
                </a:rPr>
                <a:t> 기준보다 짧은 </a:t>
              </a:r>
              <a:r>
                <a:rPr lang="en-US" altLang="ko-KR" sz="2400" b="1" dirty="0">
                  <a:latin typeface="+mn-ea"/>
                </a:rPr>
                <a:t>7</a:t>
              </a:r>
              <a:r>
                <a:rPr lang="ko-KR" altLang="en-US" sz="2400" b="1" dirty="0">
                  <a:latin typeface="+mn-ea"/>
                </a:rPr>
                <a:t>자</a:t>
              </a:r>
              <a:r>
                <a:rPr lang="ko-KR" altLang="en-US" sz="2400" dirty="0">
                  <a:latin typeface="+mn-ea"/>
                </a:rPr>
                <a:t>를 입력하여 지정된 오류 메시지가 정확하게 반환되는지를 확인한다</a:t>
              </a:r>
              <a:r>
                <a:rPr lang="en-US" altLang="ko-KR" sz="2400" dirty="0">
                  <a:latin typeface="+mn-ea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0107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</TotalTime>
  <Words>1034</Words>
  <Application>Microsoft Office PowerPoint</Application>
  <PresentationFormat>와이드스크린</PresentationFormat>
  <Paragraphs>85</Paragraphs>
  <Slides>17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맑은 고딕</vt:lpstr>
      <vt:lpstr>맑은 고딕 (본문)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38</cp:revision>
  <dcterms:created xsi:type="dcterms:W3CDTF">2026-03-10T17:23:29Z</dcterms:created>
  <dcterms:modified xsi:type="dcterms:W3CDTF">2026-09-11T01:51:00Z</dcterms:modified>
</cp:coreProperties>
</file>